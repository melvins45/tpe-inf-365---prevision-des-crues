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70" r:id="rId10"/>
    <p:sldId id="269" r:id="rId11"/>
    <p:sldId id="271" r:id="rId12"/>
    <p:sldId id="263" r:id="rId13"/>
    <p:sldId id="272" r:id="rId14"/>
    <p:sldId id="264" r:id="rId15"/>
    <p:sldId id="273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63C7C-223D-471C-82A2-E06145669BF4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B5257-1355-4AD5-AD50-02590B6B37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581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5EFA-97E1-6034-DB30-E41F8E3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chemeClr val="accent1"/>
                </a:solidFill>
                <a:latin typeface="Bahnschrift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B81FF-9513-AC55-3F55-6DFED2826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Bahnschrift Light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B6EEE-5DF5-A456-3130-7E55487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5BFC8-2DB4-4140-ACE0-6903AFCA531F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A94B7-B6B6-E842-EF15-902803347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65545-2F9A-7C52-54F9-1BBBFA9E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735D030B-3ACA-3AB2-8456-7672E88C3718}"/>
              </a:ext>
            </a:extLst>
          </p:cNvPr>
          <p:cNvSpPr/>
          <p:nvPr/>
        </p:nvSpPr>
        <p:spPr>
          <a:xfrm rot="5400000">
            <a:off x="-1294081" y="1294080"/>
            <a:ext cx="4645560" cy="20574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FD1ABC78-2EB1-8C32-62D2-7D932A6993B0}"/>
              </a:ext>
            </a:extLst>
          </p:cNvPr>
          <p:cNvSpPr/>
          <p:nvPr/>
        </p:nvSpPr>
        <p:spPr>
          <a:xfrm rot="16200000">
            <a:off x="7673778" y="5387775"/>
            <a:ext cx="2212440" cy="72800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9D729C8F-2D2D-AEBE-5B1C-E08EC37103CB}"/>
              </a:ext>
            </a:extLst>
          </p:cNvPr>
          <p:cNvSpPr/>
          <p:nvPr/>
        </p:nvSpPr>
        <p:spPr>
          <a:xfrm rot="10800000">
            <a:off x="7287063" y="-2"/>
            <a:ext cx="1856938" cy="464556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CEA8E5D3-46A6-79B9-FC3D-5E4F377916B1}"/>
              </a:ext>
            </a:extLst>
          </p:cNvPr>
          <p:cNvSpPr/>
          <p:nvPr/>
        </p:nvSpPr>
        <p:spPr>
          <a:xfrm>
            <a:off x="-7915" y="4645559"/>
            <a:ext cx="754383" cy="221244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240151812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FC0D-852C-E0CB-03F1-1D95C8CD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  <a:latin typeface="Bahnschrift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994F-93D1-BD13-073F-8057624EF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 sz="2100"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EA1B8-864A-97DC-AD3E-B1E9F597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BA5AD9-AE4E-42CB-98B2-04A02229251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56969-4FC7-D1DE-D8B7-5BE8FF088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B52B-0E76-45D9-0674-9A1E7345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4B7B586-9196-C5BA-54B5-3AD26BD76D0C}"/>
              </a:ext>
            </a:extLst>
          </p:cNvPr>
          <p:cNvSpPr/>
          <p:nvPr/>
        </p:nvSpPr>
        <p:spPr>
          <a:xfrm rot="10800000">
            <a:off x="7287063" y="-2"/>
            <a:ext cx="1856938" cy="464556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49FDEE-9EA3-5B0C-7078-9F56BCBCDB3F}"/>
              </a:ext>
            </a:extLst>
          </p:cNvPr>
          <p:cNvSpPr/>
          <p:nvPr/>
        </p:nvSpPr>
        <p:spPr>
          <a:xfrm>
            <a:off x="724989" y="1410789"/>
            <a:ext cx="6789419" cy="104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14905740"/>
      </p:ext>
    </p:extLst>
  </p:cSld>
  <p:clrMapOvr>
    <a:masterClrMapping/>
  </p:clrMapOvr>
  <p:transition spd="slow" advTm="60000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7DB9-1E5F-B97B-8E08-FA1A25738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01616-DC83-F6CB-32CF-F6EA4898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2D510-C433-4B2B-E838-18048397E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CE3D-70C3-433C-A41B-91D61DF069E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360EC-7FC2-5B4C-0014-04EA4FD0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4DDCC-B1C9-60E8-5F0B-4D8F4DB2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94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6C9D-DED7-28E0-3713-CA05059AC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0C5A7-161B-39F1-4944-16F1DC4CF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641EA-1F9E-E3F4-F23B-0109A8D10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5CD67-7622-E2F0-EEB2-28C9D729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A994-EFAC-40CD-96AB-079D0D99AA52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128A3-8A68-25F1-AAC1-0B781A97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45870-93BA-2F9B-08EC-81AE5CF87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9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0B2B-6EF0-4D09-590D-95DA0274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C799A-9420-7C65-AB7B-30246A7F8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3834B-2C1D-2AE4-64C2-7D1D93FCA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42B04-C5C3-F3DA-00A0-2BADFDF5E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17ACC-B620-CCC6-7524-901014645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390E2D-D666-3B33-966E-5153C1C0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9B0A-5BB8-49AB-9483-7A8AEB08123B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3B75D-D02B-2953-234B-F66ED31C8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756608-1F9C-C84B-23F6-699BD9E7B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13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241B-E864-D8EE-588E-96AB1D85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145E3-6B09-69C2-46A4-6D04A194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4E06-6AAB-472E-944E-DB862CEFB07D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6C747-9114-DC87-4404-AB8C87DE8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F8F93-850C-C3D2-EE9E-972F2D08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3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504FD-AF38-FC26-7D21-7EB027C6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7DA1C-3D56-400B-98D0-572BA3A19D42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2A34A-746B-91E5-5278-ED4E09624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513C9-D978-5C33-F0CA-6C681476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4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177C-F8E3-BDD0-A3A3-DE1FB5AF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B8448-4223-D726-186D-C3AD5BB15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C7704-DAE7-E988-64FB-04E74ED1F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2B16D-45AF-A297-4055-B29A5A35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A5C45-8ACF-4043-82EC-90C93D9E7CF5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677BF-8F4D-AF85-9E7F-7E4F49DA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1616E-352C-EE7E-9891-590B9B3D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AF5B-B567-2EDB-B7E2-2155F2ED4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33371-009A-694C-B08C-9944445EE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7511B-BFE0-75F6-4101-2D7CD878A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8B6EE-FD7A-E78C-2B92-C1A7AE48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0AE5-0A77-4FBB-A788-5F905B086BC4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CDF17-A7F4-0663-D613-8E2901B7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56AFE-D73C-6605-3F45-12A275C9C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1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2C5A-47B7-8974-7B16-0F2680A3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A179C-3ECF-FF68-15CC-7DBAFAADA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558A4-70C5-0569-D88C-495AC64D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4B32-B686-469D-B33E-8163330DFED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99FA7-91AA-1158-9D7F-C7DFA506E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B0799-D893-A232-5BBD-EE62700E2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3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983AB6-4417-D92F-3185-E09D9F985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A321D-E9C5-292A-E81D-8E39D0B5D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2BC88-652C-1A0D-548B-53979AAF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34C44-4B84-44FF-B747-1300AD595AC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A5054-3404-192A-FE2F-164507DCA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523F3-EE10-12DC-F11B-843651B0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73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D57E4-A6FF-466E-4BBF-8D6E8460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EAECD-5D9E-A5A3-97A2-9F31296CE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CC69C-6BEB-4FFA-E279-5B4257EBC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A935-3299-4669-A672-15D289E32E81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020FE-D9FF-BE64-CD1B-DA4136EFE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F9412-E3FD-4F7A-05FA-1F34A4C87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5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Prévision des Crues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Projet</a:t>
            </a:r>
            <a:r>
              <a:rPr dirty="0"/>
              <a:t> TPE INF 365 - Groupe 24</a:t>
            </a:r>
          </a:p>
          <a:p>
            <a:r>
              <a:rPr dirty="0"/>
              <a:t>Université de Douala - Faculté des Sciences</a:t>
            </a:r>
          </a:p>
          <a:p>
            <a:r>
              <a:rPr u="sng" dirty="0" err="1"/>
              <a:t>Examinateur</a:t>
            </a:r>
            <a:r>
              <a:rPr u="sng" dirty="0"/>
              <a:t> :</a:t>
            </a:r>
            <a:r>
              <a:rPr dirty="0"/>
              <a:t> Dr Justin MOSKOLAI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Membres du Groupe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NITOPOP JEATSA GUILLAUME MELVIN (CHEF) - 20S43003</a:t>
            </a:r>
          </a:p>
          <a:p>
            <a:r>
              <a:rPr dirty="0"/>
              <a:t>DEMANOU KEMKENG DILAN - 25S03516</a:t>
            </a:r>
          </a:p>
          <a:p>
            <a:r>
              <a:rPr dirty="0"/>
              <a:t>NOSSI YIMGO LYNDSEY SULIVANE - 23S87713</a:t>
            </a:r>
          </a:p>
          <a:p>
            <a:r>
              <a:rPr dirty="0"/>
              <a:t>TCHIEUTCHOUA FOTEPING ASHLEY MEGANE - 23S87863</a:t>
            </a:r>
          </a:p>
          <a:p>
            <a:r>
              <a:rPr dirty="0"/>
              <a:t>WANGA POUYA KAVEN SAMIRA - 23S88070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17221-ADCC-26DA-14F3-A65FA28E8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6AFDA-B2EB-4FC3-8D65-991607D3D4E2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1C155-D3C5-8AF1-54B2-795D47B8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BE2BF-80C5-5F6D-1707-37D108E2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Contexte</a:t>
            </a:r>
            <a:r>
              <a:rPr b="1" dirty="0"/>
              <a:t> : </a:t>
            </a:r>
            <a:r>
              <a:rPr dirty="0" err="1"/>
              <a:t>Prévention</a:t>
            </a:r>
            <a:r>
              <a:rPr dirty="0"/>
              <a:t> des </a:t>
            </a:r>
            <a:r>
              <a:rPr dirty="0" err="1"/>
              <a:t>inondations</a:t>
            </a:r>
            <a:r>
              <a:rPr dirty="0"/>
              <a:t> à Douala, Cameroun.</a:t>
            </a:r>
          </a:p>
          <a:p>
            <a:r>
              <a:rPr b="1" dirty="0"/>
              <a:t>Objectif : </a:t>
            </a:r>
            <a:r>
              <a:rPr dirty="0" err="1"/>
              <a:t>Prédire</a:t>
            </a:r>
            <a:r>
              <a:rPr dirty="0"/>
              <a:t> la </a:t>
            </a:r>
            <a:r>
              <a:rPr dirty="0" err="1"/>
              <a:t>probabilité</a:t>
            </a:r>
            <a:r>
              <a:rPr dirty="0"/>
              <a:t> </a:t>
            </a:r>
            <a:r>
              <a:rPr dirty="0" err="1"/>
              <a:t>d'inondation</a:t>
            </a:r>
            <a:r>
              <a:rPr dirty="0"/>
              <a:t> (</a:t>
            </a:r>
            <a:r>
              <a:rPr dirty="0" err="1"/>
              <a:t>FloodProbability</a:t>
            </a:r>
            <a:r>
              <a:rPr dirty="0"/>
              <a:t>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fonction</a:t>
            </a:r>
            <a:r>
              <a:rPr dirty="0"/>
              <a:t> de divers </a:t>
            </a:r>
            <a:r>
              <a:rPr dirty="0" err="1"/>
              <a:t>facteurs</a:t>
            </a:r>
            <a:r>
              <a:rPr dirty="0"/>
              <a:t> </a:t>
            </a:r>
            <a:r>
              <a:rPr dirty="0" err="1"/>
              <a:t>environnementaux</a:t>
            </a:r>
            <a:r>
              <a:rPr dirty="0"/>
              <a:t>.</a:t>
            </a:r>
          </a:p>
          <a:p>
            <a:endParaRPr dirty="0"/>
          </a:p>
          <a:p>
            <a:r>
              <a:rPr b="1" dirty="0"/>
              <a:t>Données : </a:t>
            </a:r>
            <a:r>
              <a:rPr dirty="0"/>
              <a:t>Dataset 'flood.csv' </a:t>
            </a:r>
            <a:r>
              <a:rPr dirty="0" err="1"/>
              <a:t>contenant</a:t>
            </a:r>
            <a:r>
              <a:rPr dirty="0"/>
              <a:t> des </a:t>
            </a:r>
            <a:r>
              <a:rPr dirty="0" err="1"/>
              <a:t>caractéristiques</a:t>
            </a:r>
            <a:r>
              <a:rPr dirty="0"/>
              <a:t> </a:t>
            </a:r>
            <a:r>
              <a:rPr dirty="0" err="1"/>
              <a:t>telles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:</a:t>
            </a:r>
          </a:p>
          <a:p>
            <a:pPr lvl="1"/>
            <a:r>
              <a:rPr dirty="0" err="1"/>
              <a:t>Intensité</a:t>
            </a:r>
            <a:r>
              <a:rPr dirty="0"/>
              <a:t> de la </a:t>
            </a:r>
            <a:r>
              <a:rPr dirty="0" err="1"/>
              <a:t>mousson</a:t>
            </a:r>
            <a:endParaRPr dirty="0"/>
          </a:p>
          <a:p>
            <a:pPr lvl="1"/>
            <a:r>
              <a:rPr dirty="0" err="1"/>
              <a:t>Topographie</a:t>
            </a:r>
            <a:r>
              <a:rPr dirty="0"/>
              <a:t> et drainage</a:t>
            </a:r>
          </a:p>
          <a:p>
            <a:pPr lvl="1"/>
            <a:r>
              <a:rPr dirty="0" err="1"/>
              <a:t>Déforestation</a:t>
            </a:r>
            <a:endParaRPr dirty="0"/>
          </a:p>
          <a:p>
            <a:pPr lvl="1"/>
            <a:r>
              <a:rPr dirty="0" err="1"/>
              <a:t>Urbanisation</a:t>
            </a:r>
            <a:endParaRPr dirty="0"/>
          </a:p>
          <a:p>
            <a:pPr lvl="1"/>
            <a:r>
              <a:rPr dirty="0" err="1"/>
              <a:t>Changement</a:t>
            </a:r>
            <a:r>
              <a:rPr dirty="0"/>
              <a:t> </a:t>
            </a:r>
            <a:r>
              <a:rPr dirty="0" err="1"/>
              <a:t>climatique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3B49F-930C-322E-B51E-AE99D579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65C0-7DA8-47D8-AE6E-9B67491D0B6C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1A888-50E8-160B-6A49-E4FF2662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A4AEA-8168-5524-63A8-8CCD1D68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b="1" dirty="0" err="1"/>
              <a:t>Préparation</a:t>
            </a:r>
            <a:r>
              <a:rPr b="1" dirty="0"/>
              <a:t> des données :</a:t>
            </a:r>
          </a:p>
          <a:p>
            <a:pPr lvl="1"/>
            <a:r>
              <a:rPr dirty="0"/>
              <a:t>   </a:t>
            </a:r>
            <a:r>
              <a:rPr lang="fr-FR" b="1" dirty="0"/>
              <a:t>Net</a:t>
            </a:r>
            <a:r>
              <a:rPr b="1" dirty="0" err="1"/>
              <a:t>toyage</a:t>
            </a:r>
            <a:r>
              <a:rPr b="1" dirty="0"/>
              <a:t> :</a:t>
            </a:r>
            <a:r>
              <a:rPr dirty="0"/>
              <a:t> </a:t>
            </a:r>
            <a:r>
              <a:rPr dirty="0" err="1"/>
              <a:t>Traitement</a:t>
            </a:r>
            <a:r>
              <a:rPr dirty="0"/>
              <a:t> des </a:t>
            </a:r>
            <a:r>
              <a:rPr dirty="0" err="1"/>
              <a:t>valeurs</a:t>
            </a:r>
            <a:r>
              <a:rPr dirty="0"/>
              <a:t> </a:t>
            </a:r>
            <a:r>
              <a:rPr dirty="0" err="1"/>
              <a:t>manquantes</a:t>
            </a:r>
            <a:r>
              <a:rPr dirty="0"/>
              <a:t> et </a:t>
            </a:r>
            <a:r>
              <a:rPr dirty="0" err="1"/>
              <a:t>doublons</a:t>
            </a:r>
            <a:r>
              <a:rPr dirty="0"/>
              <a:t>.</a:t>
            </a:r>
          </a:p>
          <a:p>
            <a:pPr lvl="1"/>
            <a:r>
              <a:rPr dirty="0"/>
              <a:t>   </a:t>
            </a:r>
            <a:r>
              <a:rPr lang="fr-FR" b="1" dirty="0"/>
              <a:t>Outliers :</a:t>
            </a:r>
            <a:r>
              <a:rPr dirty="0"/>
              <a:t> Suppression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plafonnement</a:t>
            </a:r>
            <a:r>
              <a:rPr dirty="0"/>
              <a:t> via la </a:t>
            </a:r>
            <a:r>
              <a:rPr dirty="0" err="1"/>
              <a:t>méthode</a:t>
            </a:r>
            <a:r>
              <a:rPr dirty="0"/>
              <a:t> IQR (Interquartile Range).</a:t>
            </a:r>
          </a:p>
          <a:p>
            <a:pPr lvl="1"/>
            <a:r>
              <a:rPr dirty="0"/>
              <a:t>   </a:t>
            </a:r>
            <a:r>
              <a:rPr b="1" dirty="0" err="1"/>
              <a:t>Normalisation</a:t>
            </a:r>
            <a:r>
              <a:rPr b="1" dirty="0"/>
              <a:t> :</a:t>
            </a:r>
            <a:r>
              <a:rPr dirty="0"/>
              <a:t> </a:t>
            </a:r>
            <a:r>
              <a:rPr dirty="0" err="1"/>
              <a:t>Utilisation</a:t>
            </a:r>
            <a:r>
              <a:rPr dirty="0"/>
              <a:t> de </a:t>
            </a:r>
            <a:r>
              <a:rPr dirty="0" err="1"/>
              <a:t>StandardScaler</a:t>
            </a:r>
            <a:r>
              <a:rPr dirty="0"/>
              <a:t> pour </a:t>
            </a:r>
            <a:r>
              <a:rPr dirty="0" err="1"/>
              <a:t>mettre</a:t>
            </a:r>
            <a:r>
              <a:rPr dirty="0"/>
              <a:t> les features à la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échelle</a:t>
            </a:r>
            <a:r>
              <a:rPr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b="1" dirty="0"/>
          </a:p>
          <a:p>
            <a:pPr marL="457200" indent="-457200">
              <a:buFont typeface="+mj-lt"/>
              <a:buAutoNum type="arabicPeriod"/>
            </a:pPr>
            <a:r>
              <a:rPr b="1" dirty="0" err="1"/>
              <a:t>Modélisation</a:t>
            </a:r>
            <a:r>
              <a:rPr b="1" dirty="0"/>
              <a:t> :</a:t>
            </a:r>
          </a:p>
          <a:p>
            <a:pPr lvl="1"/>
            <a:r>
              <a:rPr dirty="0"/>
              <a:t>   </a:t>
            </a:r>
            <a:r>
              <a:rPr dirty="0" err="1"/>
              <a:t>Régression</a:t>
            </a:r>
            <a:r>
              <a:rPr dirty="0"/>
              <a:t> </a:t>
            </a:r>
            <a:r>
              <a:rPr dirty="0" err="1"/>
              <a:t>Linéaire</a:t>
            </a:r>
            <a:r>
              <a:rPr dirty="0"/>
              <a:t> (Baseline)</a:t>
            </a:r>
          </a:p>
          <a:p>
            <a:pPr lvl="1"/>
            <a:r>
              <a:rPr lang="fr-FR" dirty="0"/>
              <a:t>   </a:t>
            </a:r>
            <a:r>
              <a:rPr dirty="0"/>
              <a:t>Forêt </a:t>
            </a:r>
            <a:r>
              <a:rPr dirty="0" err="1"/>
              <a:t>Aléatoire</a:t>
            </a:r>
            <a:r>
              <a:rPr dirty="0"/>
              <a:t> (Random Forest)</a:t>
            </a:r>
          </a:p>
          <a:p>
            <a:pPr lvl="1"/>
            <a:r>
              <a:rPr dirty="0"/>
              <a:t>   Réseau de </a:t>
            </a:r>
            <a:r>
              <a:rPr dirty="0" err="1"/>
              <a:t>Neurones</a:t>
            </a:r>
            <a:r>
              <a:rPr dirty="0"/>
              <a:t> (Deep Learning)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7424-8C0D-B993-45EB-B5215C5E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C021-4E19-48DE-9F2E-3673733611D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E7238-3155-92BC-74C2-53D7229B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8DD5D-D53C-D5DF-B30B-CFD95D06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Exploratoire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Matrice de </a:t>
            </a:r>
            <a:r>
              <a:rPr dirty="0" err="1"/>
              <a:t>Corrélation</a:t>
            </a:r>
            <a:r>
              <a:rPr dirty="0"/>
              <a:t> :</a:t>
            </a:r>
          </a:p>
          <a:p>
            <a:pPr lvl="1"/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visualiser</a:t>
            </a:r>
            <a:r>
              <a:rPr dirty="0"/>
              <a:t> les relations </a:t>
            </a:r>
            <a:r>
              <a:rPr dirty="0" err="1"/>
              <a:t>linéaires</a:t>
            </a:r>
            <a:r>
              <a:rPr dirty="0"/>
              <a:t> entre les variables.</a:t>
            </a:r>
          </a:p>
          <a:p>
            <a:endParaRPr lang="fr-FR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19BDFDD-A2F5-EE1A-E77B-B2917034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58C03-83AB-4D1A-A80A-1B7FD71665DC}" type="datetime1">
              <a:rPr lang="en-US" smtClean="0"/>
              <a:t>12/17/2025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79DAD8E-8CB1-DEE5-B108-E2CAFFB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F0AB25-EA3B-4DD9-633F-D784EEC0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16FC-BD61-7C22-3237-BD33BE10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Exploratoire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941064-8BF6-386B-55AE-86A33D9FC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2812" y="1825625"/>
            <a:ext cx="4638376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42383-1C79-F788-A201-5334AF8D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4ED1B-67FF-483A-8B8E-9C2ECF35AA67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22E38-82E0-F0EF-5ECA-AC470D48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7B17F-49A8-7917-A6EC-03902A1C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88080"/>
      </p:ext>
    </p:extLst>
  </p:cSld>
  <p:clrMapOvr>
    <a:masterClrMapping/>
  </p:clrMapOvr>
  <p:transition spd="slow" advTm="60000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Détails des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 err="1"/>
              <a:t>Régression</a:t>
            </a:r>
            <a:r>
              <a:rPr b="1" dirty="0"/>
              <a:t> </a:t>
            </a:r>
            <a:r>
              <a:rPr b="1" dirty="0" err="1"/>
              <a:t>Linéaire</a:t>
            </a:r>
            <a:r>
              <a:rPr b="1" dirty="0"/>
              <a:t> :</a:t>
            </a:r>
          </a:p>
          <a:p>
            <a:pPr lvl="1"/>
            <a:r>
              <a:rPr dirty="0" err="1"/>
              <a:t>Modèle</a:t>
            </a:r>
            <a:r>
              <a:rPr dirty="0"/>
              <a:t> simple pour </a:t>
            </a:r>
            <a:r>
              <a:rPr dirty="0" err="1"/>
              <a:t>établir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base de performance.</a:t>
            </a:r>
          </a:p>
          <a:p>
            <a:endParaRPr dirty="0"/>
          </a:p>
          <a:p>
            <a:r>
              <a:rPr b="1" dirty="0"/>
              <a:t>Forêt </a:t>
            </a:r>
            <a:r>
              <a:rPr b="1" dirty="0" err="1"/>
              <a:t>Aléatoire</a:t>
            </a:r>
            <a:r>
              <a:rPr b="1" dirty="0"/>
              <a:t> (Random Forest) :</a:t>
            </a:r>
          </a:p>
          <a:p>
            <a:pPr lvl="1"/>
            <a:r>
              <a:rPr dirty="0"/>
              <a:t>Ensemble de 100 </a:t>
            </a:r>
            <a:r>
              <a:rPr dirty="0" err="1"/>
              <a:t>arbres</a:t>
            </a:r>
            <a:r>
              <a:rPr dirty="0"/>
              <a:t> de </a:t>
            </a:r>
            <a:r>
              <a:rPr dirty="0" err="1"/>
              <a:t>décision</a:t>
            </a:r>
            <a:r>
              <a:rPr dirty="0"/>
              <a:t>.</a:t>
            </a:r>
          </a:p>
          <a:p>
            <a:pPr lvl="1"/>
            <a:r>
              <a:rPr dirty="0" err="1"/>
              <a:t>Robuste</a:t>
            </a:r>
            <a:r>
              <a:rPr dirty="0"/>
              <a:t> </a:t>
            </a:r>
            <a:r>
              <a:rPr dirty="0" err="1"/>
              <a:t>contre</a:t>
            </a:r>
            <a:r>
              <a:rPr dirty="0"/>
              <a:t> le </a:t>
            </a:r>
            <a:r>
              <a:rPr dirty="0" err="1"/>
              <a:t>surapprentissage</a:t>
            </a:r>
            <a:r>
              <a:rPr dirty="0"/>
              <a:t>.</a:t>
            </a:r>
          </a:p>
          <a:p>
            <a:pPr lvl="1"/>
            <a:r>
              <a:rPr dirty="0"/>
              <a:t>Capture les relations non-</a:t>
            </a:r>
            <a:r>
              <a:rPr dirty="0" err="1"/>
              <a:t>linéaires</a:t>
            </a:r>
            <a:r>
              <a:rPr dirty="0"/>
              <a:t>.</a:t>
            </a:r>
          </a:p>
          <a:p>
            <a:endParaRPr dirty="0"/>
          </a:p>
          <a:p>
            <a:r>
              <a:rPr b="1" dirty="0"/>
              <a:t>Réseau de </a:t>
            </a:r>
            <a:r>
              <a:rPr b="1" dirty="0" err="1"/>
              <a:t>Neurones</a:t>
            </a:r>
            <a:r>
              <a:rPr b="1" dirty="0"/>
              <a:t> </a:t>
            </a:r>
            <a:r>
              <a:rPr b="1" dirty="0" err="1"/>
              <a:t>Séquentiel</a:t>
            </a:r>
            <a:r>
              <a:rPr b="1" dirty="0"/>
              <a:t> :</a:t>
            </a:r>
          </a:p>
          <a:p>
            <a:pPr lvl="1"/>
            <a:r>
              <a:rPr dirty="0"/>
              <a:t>Architecture : 3 couches </a:t>
            </a:r>
            <a:r>
              <a:rPr dirty="0" err="1"/>
              <a:t>denses</a:t>
            </a:r>
            <a:r>
              <a:rPr dirty="0"/>
              <a:t> (64, 32, 1 </a:t>
            </a:r>
            <a:r>
              <a:rPr dirty="0" err="1"/>
              <a:t>neurones</a:t>
            </a:r>
            <a:r>
              <a:rPr dirty="0"/>
              <a:t>).</a:t>
            </a:r>
          </a:p>
          <a:p>
            <a:pPr lvl="1"/>
            <a:r>
              <a:rPr dirty="0"/>
              <a:t>Activation : </a:t>
            </a:r>
            <a:r>
              <a:rPr dirty="0" err="1"/>
              <a:t>ReLU</a:t>
            </a:r>
            <a:r>
              <a:rPr dirty="0"/>
              <a:t> pour les couches </a:t>
            </a:r>
            <a:r>
              <a:rPr dirty="0" err="1"/>
              <a:t>cachées</a:t>
            </a:r>
            <a:r>
              <a:rPr dirty="0"/>
              <a:t>, </a:t>
            </a:r>
            <a:r>
              <a:rPr dirty="0" err="1"/>
              <a:t>Linéaire</a:t>
            </a:r>
            <a:r>
              <a:rPr dirty="0"/>
              <a:t> pour la sortie.</a:t>
            </a:r>
          </a:p>
          <a:p>
            <a:pPr lvl="1"/>
            <a:r>
              <a:rPr dirty="0" err="1"/>
              <a:t>Optimiseur</a:t>
            </a:r>
            <a:r>
              <a:rPr dirty="0"/>
              <a:t> : Adam | Perte : MSE.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05D4-FE07-0484-3588-4EE90639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051D-B790-4239-B6CD-E885A4DDEDC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861CD-53C5-BDFE-7BB5-1005FAAC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145CD-5CC5-9611-2685-9571048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Résultats</a:t>
            </a:r>
            <a:r>
              <a:rPr dirty="0"/>
              <a:t> : </a:t>
            </a:r>
            <a:r>
              <a:rPr dirty="0" err="1"/>
              <a:t>Régression</a:t>
            </a:r>
            <a:r>
              <a:rPr dirty="0"/>
              <a:t> </a:t>
            </a:r>
            <a:r>
              <a:rPr dirty="0" err="1"/>
              <a:t>Linéaire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Analyse</a:t>
            </a:r>
            <a:r>
              <a:rPr b="1" dirty="0"/>
              <a:t> des </a:t>
            </a:r>
            <a:r>
              <a:rPr b="1" dirty="0" err="1"/>
              <a:t>Résidus</a:t>
            </a:r>
            <a:r>
              <a:rPr b="1" dirty="0"/>
              <a:t> :</a:t>
            </a:r>
          </a:p>
          <a:p>
            <a:endParaRPr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1B9645-5401-A002-1634-A5E68DE3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8583-69BF-450D-A868-E7A41FD5745C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74911-AA74-E8A0-BBBA-23A585AA9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F2D82-3161-394F-3189-DCF841DA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9918-466B-B65C-241B-16489797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: Régression Linéaire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A21AD5-DB5B-877F-F184-2FF305E561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780" y="1825625"/>
            <a:ext cx="5568440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91468-1F00-02A9-E6F4-01CE56EA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23E4-0DA0-44E0-A87B-0BE1FD122822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A4A14-3086-F1D2-9968-99E85B91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9E6C3-DF7F-A667-5E26-30F72B9E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53608"/>
      </p:ext>
    </p:extLst>
  </p:cSld>
  <p:clrMapOvr>
    <a:masterClrMapping/>
  </p:clrMapOvr>
  <p:transition spd="slow" advTm="60000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7ADE-241B-5506-A12E-0341DC39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: Régression Linéaire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12D2-9821-6ADF-D79A-5326E020D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Prédictions vs Réalité :</a:t>
            </a:r>
          </a:p>
          <a:p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E81CC-EB0F-F6D8-FB4B-DAD85BE7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D794-8AD0-448A-953B-5612B6479902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ED2B3-61D1-5AC4-92EC-A9EB948D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3F22E-D751-07D3-D087-DBD6D4B0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11197"/>
      </p:ext>
    </p:extLst>
  </p:cSld>
  <p:clrMapOvr>
    <a:masterClrMapping/>
  </p:clrMapOvr>
  <p:transition spd="slow" advTm="60000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8435-011E-7FC1-39DF-8875E3F2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: Régression Linéaire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1C535F-2E69-7E2D-0FDC-5433F5BD6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780" y="1825625"/>
            <a:ext cx="5568440" cy="4351338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A904083-07E6-CE84-5E5E-7426240C3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7C8FE-6163-43F2-BEA6-04818083EC9F}" type="datetime1">
              <a:rPr lang="en-US" smtClean="0"/>
              <a:t>12/17/2025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2ADBA8-5E9B-3E61-7CFE-57833081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7C832B-2713-99C8-F398-5BC163E3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51690"/>
      </p:ext>
    </p:extLst>
  </p:cSld>
  <p:clrMapOvr>
    <a:masterClrMapping/>
  </p:clrMapOvr>
  <p:transition spd="slow" advTm="60000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Résultats</a:t>
            </a:r>
            <a:r>
              <a:rPr dirty="0"/>
              <a:t> : Forêt </a:t>
            </a:r>
            <a:r>
              <a:rPr dirty="0" err="1"/>
              <a:t>Aléatoire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Performance du </a:t>
            </a:r>
            <a:r>
              <a:rPr b="1" dirty="0" err="1"/>
              <a:t>modèle</a:t>
            </a:r>
            <a:r>
              <a:rPr b="1" dirty="0"/>
              <a:t> :</a:t>
            </a:r>
          </a:p>
          <a:p>
            <a:pPr lvl="1"/>
            <a:r>
              <a:rPr dirty="0" err="1"/>
              <a:t>Meilleure</a:t>
            </a:r>
            <a:r>
              <a:rPr dirty="0"/>
              <a:t> gestion des non-</a:t>
            </a:r>
            <a:r>
              <a:rPr dirty="0" err="1"/>
              <a:t>linéarités</a:t>
            </a:r>
            <a:r>
              <a:rPr dirty="0"/>
              <a:t>.</a:t>
            </a:r>
          </a:p>
          <a:p>
            <a:r>
              <a:rPr lang="fr-FR" b="1" dirty="0"/>
              <a:t>Prédictions vs Réalité :</a:t>
            </a:r>
          </a:p>
          <a:p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91AA5-8598-E5D7-54BA-D581586E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4614-39D6-495E-B218-2BE2EB022C4E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F4A8-02D4-DB63-666D-9B44F856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7D3A7-D2C8-92E6-D716-BBB1E7B2C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4E7E-6E70-8130-9AD0-13A42693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: Forêt Aléatoire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BDFB00-C445-B13B-635E-CC82C80E2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780" y="1825625"/>
            <a:ext cx="5568440" cy="4351338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E906EA-AA40-2FFC-70B2-4FFAAB0D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ED7A-0DB8-4309-86E6-C3E8BB396C8D}" type="datetime1">
              <a:rPr lang="en-US" smtClean="0"/>
              <a:t>12/17/2025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6708AE-58E6-BBB3-515B-F6A64B93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C74037-26CA-018E-97C2-A132C827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3991"/>
      </p:ext>
    </p:extLst>
  </p:cSld>
  <p:clrMapOvr>
    <a:masterClrMapping/>
  </p:clrMapOvr>
  <p:transition spd="slow" advTm="60000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Résultats</a:t>
            </a:r>
            <a:r>
              <a:rPr dirty="0"/>
              <a:t> : Réseau de </a:t>
            </a:r>
            <a:r>
              <a:rPr dirty="0" err="1"/>
              <a:t>Neurones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Performance du </a:t>
            </a:r>
            <a:r>
              <a:rPr b="1" dirty="0" err="1"/>
              <a:t>modèle</a:t>
            </a:r>
            <a:r>
              <a:rPr b="1" dirty="0"/>
              <a:t> :</a:t>
            </a:r>
          </a:p>
          <a:p>
            <a:pPr lvl="1"/>
            <a:r>
              <a:rPr dirty="0"/>
              <a:t>MSE très </a:t>
            </a:r>
            <a:r>
              <a:rPr dirty="0" err="1"/>
              <a:t>faible</a:t>
            </a:r>
            <a:r>
              <a:rPr dirty="0"/>
              <a:t> sur </a:t>
            </a:r>
            <a:r>
              <a:rPr dirty="0" err="1"/>
              <a:t>l'ensemble</a:t>
            </a:r>
            <a:r>
              <a:rPr dirty="0"/>
              <a:t> de validation.</a:t>
            </a:r>
          </a:p>
          <a:p>
            <a:endParaRPr dirty="0"/>
          </a:p>
          <a:p>
            <a:r>
              <a:rPr b="1" dirty="0" err="1"/>
              <a:t>Prédictions</a:t>
            </a:r>
            <a:r>
              <a:rPr b="1" dirty="0"/>
              <a:t> vs </a:t>
            </a:r>
            <a:r>
              <a:rPr b="1" dirty="0" err="1"/>
              <a:t>Réalité</a:t>
            </a:r>
            <a:r>
              <a:rPr b="1" dirty="0"/>
              <a:t> :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6BBB2-660F-00F1-3EC2-F2860D92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1104-5663-4A17-B02D-AA7A6618B11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3679D-D180-5258-30FE-93B14CB7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36B6-1BAA-205C-C063-9B013E0E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53EF-4A74-4333-4A07-E9A0C8D9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: Réseau de Neurones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7CCDDC-CE6C-AEA7-E31E-5469E0D32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523" y="1921030"/>
            <a:ext cx="5266954" cy="4160528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2D8824D-A052-E93F-869E-8E3530FF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9498-2E6E-4A03-A001-3F86489EC797}" type="datetime1">
              <a:rPr lang="en-US" smtClean="0"/>
              <a:t>12/17/2025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EA9100F-10B6-ADA3-682F-E79C85A9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47A42A-2D49-9395-6CCE-AAACFB20F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52352"/>
      </p:ext>
    </p:extLst>
  </p:cSld>
  <p:clrMapOvr>
    <a:masterClrMapping/>
  </p:clrMapOvr>
  <p:transition spd="slow" advTm="60000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Croisée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Pourquoi</a:t>
            </a:r>
            <a:r>
              <a:rPr b="1" dirty="0"/>
              <a:t> ?</a:t>
            </a:r>
          </a:p>
          <a:p>
            <a:pPr lvl="1"/>
            <a:r>
              <a:rPr dirty="0"/>
              <a:t>Pour </a:t>
            </a:r>
            <a:r>
              <a:rPr dirty="0" err="1"/>
              <a:t>évaluer</a:t>
            </a:r>
            <a:r>
              <a:rPr dirty="0"/>
              <a:t> la </a:t>
            </a:r>
            <a:r>
              <a:rPr dirty="0" err="1"/>
              <a:t>robustesse</a:t>
            </a:r>
            <a:r>
              <a:rPr dirty="0"/>
              <a:t> des </a:t>
            </a:r>
            <a:r>
              <a:rPr dirty="0" err="1"/>
              <a:t>modèles</a:t>
            </a:r>
            <a:r>
              <a:rPr dirty="0"/>
              <a:t>.</a:t>
            </a:r>
          </a:p>
          <a:p>
            <a:pPr lvl="1"/>
            <a:r>
              <a:rPr dirty="0" err="1"/>
              <a:t>Évite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soit</a:t>
            </a:r>
            <a:r>
              <a:rPr dirty="0"/>
              <a:t> performant </a:t>
            </a:r>
            <a:r>
              <a:rPr dirty="0" err="1"/>
              <a:t>uniquement</a:t>
            </a:r>
            <a:r>
              <a:rPr dirty="0"/>
              <a:t> sur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</a:t>
            </a:r>
            <a:r>
              <a:rPr dirty="0" err="1"/>
              <a:t>spécifique</a:t>
            </a:r>
            <a:r>
              <a:rPr dirty="0"/>
              <a:t> des données.</a:t>
            </a:r>
          </a:p>
          <a:p>
            <a:endParaRPr dirty="0"/>
          </a:p>
          <a:p>
            <a:r>
              <a:rPr b="1" dirty="0" err="1"/>
              <a:t>Méthode</a:t>
            </a:r>
            <a:r>
              <a:rPr b="1" dirty="0"/>
              <a:t> (K-Fold) :</a:t>
            </a:r>
          </a:p>
          <a:p>
            <a:pPr lvl="1"/>
            <a:r>
              <a:rPr dirty="0"/>
              <a:t>Division des données </a:t>
            </a:r>
            <a:r>
              <a:rPr dirty="0" err="1"/>
              <a:t>en</a:t>
            </a:r>
            <a:r>
              <a:rPr dirty="0"/>
              <a:t> 5 parties (folds).</a:t>
            </a:r>
          </a:p>
          <a:p>
            <a:pPr lvl="1"/>
            <a:r>
              <a:rPr dirty="0" err="1"/>
              <a:t>Entraînement</a:t>
            </a:r>
            <a:r>
              <a:rPr dirty="0"/>
              <a:t> sur 4 parties, test sur 1.</a:t>
            </a:r>
          </a:p>
          <a:p>
            <a:pPr lvl="1"/>
            <a:r>
              <a:rPr dirty="0" err="1"/>
              <a:t>Répétition</a:t>
            </a:r>
            <a:r>
              <a:rPr dirty="0"/>
              <a:t> 5 </a:t>
            </a:r>
            <a:r>
              <a:rPr dirty="0" err="1"/>
              <a:t>fois</a:t>
            </a:r>
            <a:r>
              <a:rPr dirty="0"/>
              <a:t> et </a:t>
            </a:r>
            <a:r>
              <a:rPr dirty="0" err="1"/>
              <a:t>moyenne</a:t>
            </a:r>
            <a:r>
              <a:rPr dirty="0"/>
              <a:t> des scores (MSE, R2).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FFE0E-744B-BF66-F1FF-5EE724CA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F0F7-F370-4857-BFC7-9440D5F406A8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6651F-47B2-65A9-18E1-7082869D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03B16-5630-8826-CA09-44C5B27C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Préliminaires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Réseau de </a:t>
            </a:r>
            <a:r>
              <a:rPr b="1" dirty="0" err="1"/>
              <a:t>Neurones</a:t>
            </a:r>
            <a:r>
              <a:rPr b="1" dirty="0"/>
              <a:t> :</a:t>
            </a:r>
          </a:p>
          <a:p>
            <a:pPr lvl="1"/>
            <a:r>
              <a:rPr dirty="0"/>
              <a:t>MSE (Mean Squared Error) très </a:t>
            </a:r>
            <a:r>
              <a:rPr dirty="0" err="1"/>
              <a:t>faible</a:t>
            </a:r>
            <a:r>
              <a:rPr dirty="0"/>
              <a:t> (~1.4e-05) sur les données de validation.</a:t>
            </a:r>
          </a:p>
          <a:p>
            <a:pPr lvl="1"/>
            <a:r>
              <a:rPr dirty="0" err="1"/>
              <a:t>Indique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très bonne </a:t>
            </a:r>
            <a:r>
              <a:rPr dirty="0" err="1"/>
              <a:t>capacité</a:t>
            </a:r>
            <a:r>
              <a:rPr dirty="0"/>
              <a:t> </a:t>
            </a:r>
            <a:r>
              <a:rPr dirty="0" err="1"/>
              <a:t>prédictive</a:t>
            </a:r>
            <a:r>
              <a:rPr dirty="0"/>
              <a:t>.</a:t>
            </a:r>
          </a:p>
          <a:p>
            <a:endParaRPr dirty="0"/>
          </a:p>
          <a:p>
            <a:r>
              <a:rPr b="1" dirty="0" err="1"/>
              <a:t>Comparaison</a:t>
            </a:r>
            <a:r>
              <a:rPr b="1" dirty="0"/>
              <a:t> :</a:t>
            </a:r>
          </a:p>
          <a:p>
            <a:pPr lvl="1"/>
            <a:r>
              <a:rPr dirty="0"/>
              <a:t>La validation </a:t>
            </a:r>
            <a:r>
              <a:rPr dirty="0" err="1"/>
              <a:t>croisée</a:t>
            </a:r>
            <a:r>
              <a:rPr dirty="0"/>
              <a:t> </a:t>
            </a:r>
            <a:r>
              <a:rPr dirty="0" err="1"/>
              <a:t>permettra</a:t>
            </a:r>
            <a:r>
              <a:rPr dirty="0"/>
              <a:t> de confirmer </a:t>
            </a:r>
            <a:r>
              <a:rPr dirty="0" err="1"/>
              <a:t>si</a:t>
            </a:r>
            <a:r>
              <a:rPr dirty="0"/>
              <a:t> le Random Forest </a:t>
            </a:r>
            <a:r>
              <a:rPr dirty="0" err="1"/>
              <a:t>ou</a:t>
            </a:r>
            <a:r>
              <a:rPr dirty="0"/>
              <a:t> le Réseau de </a:t>
            </a:r>
            <a:r>
              <a:rPr dirty="0" err="1"/>
              <a:t>Neurones</a:t>
            </a:r>
            <a:r>
              <a:rPr dirty="0"/>
              <a:t> est le </a:t>
            </a:r>
            <a:r>
              <a:rPr dirty="0" err="1"/>
              <a:t>meilleur</a:t>
            </a:r>
            <a:r>
              <a:rPr dirty="0"/>
              <a:t>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généralisable</a:t>
            </a:r>
            <a:r>
              <a:rPr dirty="0"/>
              <a:t>.</a:t>
            </a:r>
          </a:p>
          <a:p>
            <a:pPr lvl="1"/>
            <a:r>
              <a:rPr dirty="0"/>
              <a:t>Le script 'validation_croisee.py'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créé</a:t>
            </a:r>
            <a:r>
              <a:rPr dirty="0"/>
              <a:t> pour </a:t>
            </a:r>
            <a:r>
              <a:rPr dirty="0" err="1"/>
              <a:t>automatiser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test.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199C6-9F3E-27E5-F552-10B757389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9AC06-A659-47E3-8DCC-6923C098D5E7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D96D-C324-60EF-C544-F6F57AA6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3D4F1-BBCB-28B2-F3BA-C812EEAE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a </a:t>
            </a:r>
            <a:r>
              <a:rPr dirty="0" err="1"/>
              <a:t>permis</a:t>
            </a:r>
            <a:r>
              <a:rPr dirty="0"/>
              <a:t> </a:t>
            </a:r>
            <a:r>
              <a:rPr dirty="0" err="1"/>
              <a:t>d'explorer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approches</a:t>
            </a:r>
            <a:r>
              <a:rPr dirty="0"/>
              <a:t> de </a:t>
            </a:r>
            <a:r>
              <a:rPr dirty="0" err="1"/>
              <a:t>modélisation</a:t>
            </a:r>
            <a:r>
              <a:rPr dirty="0"/>
              <a:t>.</a:t>
            </a:r>
          </a:p>
          <a:p>
            <a:r>
              <a:rPr dirty="0"/>
              <a:t>Le </a:t>
            </a:r>
            <a:r>
              <a:rPr dirty="0" err="1"/>
              <a:t>prétraitement</a:t>
            </a:r>
            <a:r>
              <a:rPr dirty="0"/>
              <a:t> des données (gestion des outliers, scaling) est crucial.</a:t>
            </a:r>
          </a:p>
          <a:p>
            <a:r>
              <a:rPr dirty="0"/>
              <a:t>Les </a:t>
            </a:r>
            <a:r>
              <a:rPr dirty="0" err="1"/>
              <a:t>modèles</a:t>
            </a:r>
            <a:r>
              <a:rPr dirty="0"/>
              <a:t> complexes (NN, RF) </a:t>
            </a:r>
            <a:r>
              <a:rPr dirty="0" err="1"/>
              <a:t>semblent</a:t>
            </a:r>
            <a:r>
              <a:rPr dirty="0"/>
              <a:t> </a:t>
            </a:r>
            <a:r>
              <a:rPr dirty="0" err="1"/>
              <a:t>prometteurs</a:t>
            </a:r>
            <a:r>
              <a:rPr dirty="0"/>
              <a:t>.</a:t>
            </a:r>
          </a:p>
          <a:p>
            <a:r>
              <a:rPr b="1" dirty="0" err="1"/>
              <a:t>Prochaines</a:t>
            </a:r>
            <a:r>
              <a:rPr b="1" dirty="0"/>
              <a:t> étapes : </a:t>
            </a:r>
            <a:r>
              <a:rPr dirty="0"/>
              <a:t>Tuning des </a:t>
            </a:r>
            <a:r>
              <a:rPr dirty="0" err="1"/>
              <a:t>hyperparamètres</a:t>
            </a:r>
            <a:r>
              <a:rPr dirty="0"/>
              <a:t> et </a:t>
            </a:r>
            <a:r>
              <a:rPr dirty="0" err="1"/>
              <a:t>déploiement</a:t>
            </a:r>
            <a:r>
              <a:rPr dirty="0"/>
              <a:t> du </a:t>
            </a:r>
            <a:r>
              <a:rPr dirty="0" err="1"/>
              <a:t>meilleur</a:t>
            </a:r>
            <a:r>
              <a:rPr dirty="0"/>
              <a:t> </a:t>
            </a:r>
            <a:r>
              <a:rPr dirty="0" err="1"/>
              <a:t>modèle</a:t>
            </a:r>
            <a:r>
              <a:rPr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D4488-9DD3-6CB5-3AB6-052788C05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AABD8-984D-4285-A0D2-60499F561EDE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E1B06-6E0F-9D64-F4D8-B530E228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B033A-306C-8245-70C1-0259C631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theme/theme1.xml><?xml version="1.0" encoding="utf-8"?>
<a:theme xmlns:a="http://schemas.openxmlformats.org/drawingml/2006/main" name="Thème TPE INF 36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TPE INF 365" id="{DED069CE-39B0-4EB4-9E7B-CFCBC45D31CA}" vid="{46C3A14A-6B38-495E-95EC-066CB5F7A6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659</Words>
  <Application>Microsoft Office PowerPoint</Application>
  <PresentationFormat>On-screen Show (4:3)</PresentationFormat>
  <Paragraphs>138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Bahnschrift Light</vt:lpstr>
      <vt:lpstr>Calibri</vt:lpstr>
      <vt:lpstr>Calibri Light</vt:lpstr>
      <vt:lpstr>Thème TPE INF 365</vt:lpstr>
      <vt:lpstr>Prévision des Crues</vt:lpstr>
      <vt:lpstr>Membres du Groupe 24</vt:lpstr>
      <vt:lpstr>Introduction &amp; Contexte</vt:lpstr>
      <vt:lpstr>Méthodologie</vt:lpstr>
      <vt:lpstr>Analyse Exploratoire</vt:lpstr>
      <vt:lpstr>Analyse Exploratoire</vt:lpstr>
      <vt:lpstr>Détails des Modèles</vt:lpstr>
      <vt:lpstr>Résultats : Régression Linéaire</vt:lpstr>
      <vt:lpstr>Résultats : Régression Linéaire</vt:lpstr>
      <vt:lpstr>Résultats : Régression Linéaire</vt:lpstr>
      <vt:lpstr>Résultats : Régression Linéaire</vt:lpstr>
      <vt:lpstr>Résultats : Forêt Aléatoire</vt:lpstr>
      <vt:lpstr>Résultats : Forêt Aléatoire</vt:lpstr>
      <vt:lpstr>Résultats : Réseau de Neurones</vt:lpstr>
      <vt:lpstr>Résultats : Réseau de Neurones</vt:lpstr>
      <vt:lpstr>Validation Croisée</vt:lpstr>
      <vt:lpstr>Résultats Préliminaires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mnitopop4@outlook.com</cp:lastModifiedBy>
  <cp:revision>2</cp:revision>
  <dcterms:created xsi:type="dcterms:W3CDTF">2013-01-27T09:14:16Z</dcterms:created>
  <dcterms:modified xsi:type="dcterms:W3CDTF">2025-12-17T16:35:23Z</dcterms:modified>
  <cp:category/>
</cp:coreProperties>
</file>