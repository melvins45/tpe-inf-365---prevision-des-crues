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Prévision des Crues</a:t>
            </a:r>
          </a:p>
        </p:txBody>
      </p:sp>
      <p:sp>
        <p:nvSpPr>
          <p:cNvPr id="3" name="Subtitle 2"/>
          <p:cNvSpPr>
            <a:spLocks noGrp="1"/>
          </p:cNvSpPr>
          <p:nvPr>
            <p:ph type="subTitle" idx="1"/>
          </p:nvPr>
        </p:nvSpPr>
        <p:spPr/>
        <p:txBody>
          <a:bodyPr/>
          <a:lstStyle/>
          <a:p>
            <a:r>
              <a:t>Projet TPE INF 365 - Groupe 24</a:t>
            </a:r>
          </a:p>
          <a:p>
            <a:r>
              <a:t>Université de Douala - Faculté des Sciences</a:t>
            </a:r>
          </a:p>
          <a:p>
            <a:r>
              <a:t>Examinateur : Dr Justin MOSKOLAI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Membres du Groupe 24</a:t>
            </a:r>
          </a:p>
        </p:txBody>
      </p:sp>
      <p:sp>
        <p:nvSpPr>
          <p:cNvPr id="3" name="Content Placeholder 2"/>
          <p:cNvSpPr>
            <a:spLocks noGrp="1"/>
          </p:cNvSpPr>
          <p:nvPr>
            <p:ph idx="1"/>
          </p:nvPr>
        </p:nvSpPr>
        <p:spPr/>
        <p:txBody>
          <a:bodyPr/>
          <a:lstStyle/>
          <a:p>
            <a:r>
              <a:t>• NITOPOP JEATSA GUILLAUME MELVIN (CHEF) - 20S43003</a:t>
            </a:r>
          </a:p>
          <a:p>
            <a:r>
              <a:t>• DEMANOU KEMKENG DILAN - 25S03516</a:t>
            </a:r>
          </a:p>
          <a:p>
            <a:r>
              <a:t>• NOSSI YIMGO LYNDSEY SULIVANE - 23S87713</a:t>
            </a:r>
          </a:p>
          <a:p>
            <a:r>
              <a:t>• TCHIEUTCHOUA FOTEPING ASHLEY MEGANE - 23S87863</a:t>
            </a:r>
          </a:p>
          <a:p>
            <a:r>
              <a:t>• WANGA POUYA KAVEN SAMIRA - 23S88070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&amp; Contexte</a:t>
            </a:r>
          </a:p>
        </p:txBody>
      </p:sp>
      <p:sp>
        <p:nvSpPr>
          <p:cNvPr id="3" name="Content Placeholder 2"/>
          <p:cNvSpPr>
            <a:spLocks noGrp="1"/>
          </p:cNvSpPr>
          <p:nvPr>
            <p:ph idx="1"/>
          </p:nvPr>
        </p:nvSpPr>
        <p:spPr/>
        <p:txBody>
          <a:bodyPr/>
          <a:lstStyle/>
          <a:p>
            <a:r>
              <a:t>Contexte : Prévention des inondations à Douala, Cameroun.</a:t>
            </a:r>
          </a:p>
          <a:p>
            <a:r>
              <a:t>Objectif : Prédire la probabilité d'inondation (FloodProbability) en fonction de divers facteurs environnementaux.</a:t>
            </a:r>
          </a:p>
          <a:p/>
          <a:p>
            <a:r>
              <a:t>Données : Dataset 'flood.csv' contenant des caractéristiques telles que :</a:t>
            </a:r>
          </a:p>
          <a:p>
            <a:r>
              <a:t>- Intensité de la mousson</a:t>
            </a:r>
          </a:p>
          <a:p>
            <a:r>
              <a:t>- Topographie et drainage</a:t>
            </a:r>
          </a:p>
          <a:p>
            <a:r>
              <a:t>- Déforestation</a:t>
            </a:r>
          </a:p>
          <a:p>
            <a:r>
              <a:t>- Urbanisation</a:t>
            </a:r>
          </a:p>
          <a:p>
            <a:r>
              <a:t>- Changement climatique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Méthodologie</a:t>
            </a:r>
          </a:p>
        </p:txBody>
      </p:sp>
      <p:sp>
        <p:nvSpPr>
          <p:cNvPr id="3" name="Content Placeholder 2"/>
          <p:cNvSpPr>
            <a:spLocks noGrp="1"/>
          </p:cNvSpPr>
          <p:nvPr>
            <p:ph idx="1"/>
          </p:nvPr>
        </p:nvSpPr>
        <p:spPr/>
        <p:txBody>
          <a:bodyPr/>
          <a:lstStyle/>
          <a:p>
            <a:r>
              <a:t>1. Préparation des données :</a:t>
            </a:r>
          </a:p>
          <a:p>
            <a:r>
              <a:t>   - Nettoyage : Traitement des valeurs manquantes et doublons.</a:t>
            </a:r>
          </a:p>
          <a:p>
            <a:r>
              <a:t>   - Outliers : Suppression ou plafonnement via la méthode IQR (Interquartile Range).</a:t>
            </a:r>
          </a:p>
          <a:p>
            <a:r>
              <a:t>   - Normalisation : Utilisation de StandardScaler pour mettre les features à la même échelle.</a:t>
            </a:r>
          </a:p>
          <a:p/>
          <a:p>
            <a:r>
              <a:t>2. Modélisation :</a:t>
            </a:r>
          </a:p>
          <a:p>
            <a:r>
              <a:t>   - Régression Linéaire (Baseline)</a:t>
            </a:r>
          </a:p>
          <a:p>
            <a:r>
              <a:t>   - Forêt Aléatoire (Random Forest)</a:t>
            </a:r>
          </a:p>
          <a:p>
            <a:r>
              <a:t>   - Réseau de Neurones (Deep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Exploratoire</a:t>
            </a:r>
          </a:p>
        </p:txBody>
      </p:sp>
      <p:sp>
        <p:nvSpPr>
          <p:cNvPr id="3" name="Content Placeholder 2"/>
          <p:cNvSpPr>
            <a:spLocks noGrp="1"/>
          </p:cNvSpPr>
          <p:nvPr>
            <p:ph idx="1"/>
          </p:nvPr>
        </p:nvSpPr>
        <p:spPr/>
        <p:txBody>
          <a:bodyPr/>
          <a:lstStyle/>
          <a:p>
            <a:r>
              <a:t>Matrice de Corrélation :</a:t>
            </a:r>
          </a:p>
          <a:p>
            <a:r>
              <a:t>Permet de visualiser les relations linéaires entre les variables.</a:t>
            </a:r>
          </a:p>
          <a:p/>
          <a:p>
            <a:r>
              <a:t>[ESPACE POUR IMAGE: Matrice de Corrélation (Heatmap)]</a:t>
            </a:r>
          </a:p>
          <a:p>
            <a:r>
              <a:t>(Voir notebook: modeleRegressionLineaire.ipynb ou modeleForetAleatoire.ipynb)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Détails des Modèles</a:t>
            </a:r>
          </a:p>
        </p:txBody>
      </p:sp>
      <p:sp>
        <p:nvSpPr>
          <p:cNvPr id="3" name="Content Placeholder 2"/>
          <p:cNvSpPr>
            <a:spLocks noGrp="1"/>
          </p:cNvSpPr>
          <p:nvPr>
            <p:ph idx="1"/>
          </p:nvPr>
        </p:nvSpPr>
        <p:spPr/>
        <p:txBody>
          <a:bodyPr/>
          <a:lstStyle/>
          <a:p>
            <a:r>
              <a:t>Régression Linéaire :</a:t>
            </a:r>
          </a:p>
          <a:p>
            <a:r>
              <a:t>- Modèle simple pour établir une base de performance.</a:t>
            </a:r>
          </a:p>
          <a:p/>
          <a:p>
            <a:r>
              <a:t>Forêt Aléatoire (Random Forest) :</a:t>
            </a:r>
          </a:p>
          <a:p>
            <a:r>
              <a:t>- Ensemble de 100 arbres de décision.</a:t>
            </a:r>
          </a:p>
          <a:p>
            <a:r>
              <a:t>- Robuste contre le surapprentissage.</a:t>
            </a:r>
          </a:p>
          <a:p>
            <a:r>
              <a:t>- Capture les relations non-linéaires.</a:t>
            </a:r>
          </a:p>
          <a:p/>
          <a:p>
            <a:r>
              <a:t>Réseau de Neurones Séquentiel :</a:t>
            </a:r>
          </a:p>
          <a:p>
            <a:r>
              <a:t>- Architecture : 3 couches denses (64, 32, 1 neurones).</a:t>
            </a:r>
          </a:p>
          <a:p>
            <a:r>
              <a:t>- Activation : ReLU pour les couches cachées, Linéaire pour la sortie.</a:t>
            </a:r>
          </a:p>
          <a:p>
            <a:r>
              <a:t>- Optimiseur : Adam | Perte : MSE.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Résultats : Régression Linéaire</a:t>
            </a:r>
          </a:p>
        </p:txBody>
      </p:sp>
      <p:sp>
        <p:nvSpPr>
          <p:cNvPr id="3" name="Content Placeholder 2"/>
          <p:cNvSpPr>
            <a:spLocks noGrp="1"/>
          </p:cNvSpPr>
          <p:nvPr>
            <p:ph idx="1"/>
          </p:nvPr>
        </p:nvSpPr>
        <p:spPr/>
        <p:txBody>
          <a:bodyPr/>
          <a:lstStyle/>
          <a:p>
            <a:r>
              <a:t>Nous commençons par observer les résultats de la Régression Linéaire, notre modèle de base. Ce graphique met en relation les probabilités d'inondation réelles (axe horizontal) avec celles prédites par le modèle (axe vertical). La ligne rouge représente la perfection : si tous les points étaient dessus, le modèle aurait 100% de réussite. Ici, la dispersion des points nous montre que ce modèle simple peine à capturer toute la complexité des facteurs environnementaux, ce qui entraîne des erreurs de prévision visibles et une fiabilité limitée pour des cas critiques.</a:t>
            </a:r>
          </a:p>
          <a:p/>
          <a:p>
            <a:r>
              <a:t>[ESPACE POUR IMAGE: Actual vs Predicted FloodProbability]</a:t>
            </a:r>
          </a:p>
          <a:p>
            <a:r>
              <a:t>(Voir notebook: modeleRegressionLineaire.ipynb)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Résultats : Forêt Aléatoire</a:t>
            </a:r>
          </a:p>
        </p:txBody>
      </p:sp>
      <p:sp>
        <p:nvSpPr>
          <p:cNvPr id="3" name="Content Placeholder 2"/>
          <p:cNvSpPr>
            <a:spLocks noGrp="1"/>
          </p:cNvSpPr>
          <p:nvPr>
            <p:ph idx="1"/>
          </p:nvPr>
        </p:nvSpPr>
        <p:spPr/>
        <p:txBody>
          <a:bodyPr/>
          <a:lstStyle/>
          <a:p>
            <a:r>
              <a:t>Passons ensuite au modèle de Forêt Aléatoire, qui utilise la puissance de 100 arbres de décision travaillant ensemble. Contrairement au modèle précédent, vous remarquerez que le nuage de points est beaucoup plus resserré autour de la diagonale rouge. Cela signifie que les prédictions sont nettement plus fiables et précises. Ce modèle parvient mieux à comprendre les interactions non-linéaires entre les variables (comme l'effet combiné de la pluie et de l'urbanisation), réduisant ainsi considérablement l'incertitude.</a:t>
            </a:r>
          </a:p>
          <a:p/>
          <a:p>
            <a:r>
              <a:t>[ESPACE POUR IMAGE: Actual vs Predicted FloodProbability]</a:t>
            </a:r>
          </a:p>
          <a:p>
            <a:r>
              <a:t>(Voir notebook: modeleForetAleatoire.ipynb)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Résultats : Réseau de Neurones</a:t>
            </a:r>
          </a:p>
        </p:txBody>
      </p:sp>
      <p:sp>
        <p:nvSpPr>
          <p:cNvPr id="3" name="Content Placeholder 2"/>
          <p:cNvSpPr>
            <a:spLocks noGrp="1"/>
          </p:cNvSpPr>
          <p:nvPr>
            <p:ph idx="1"/>
          </p:nvPr>
        </p:nvSpPr>
        <p:spPr/>
        <p:txBody>
          <a:bodyPr/>
          <a:lstStyle/>
          <a:p>
            <a:r>
              <a:t>Enfin, voici les performances de notre Réseau de Neurones Séquentiel, une approche de Deep Learning avancée. Ce modèle a appris à pondérer finement chaque caractéristique à travers ses couches de neurones artificiels successives. Le graphique montre une adéquation quasi-parfaite entre les prédictions et la réalité, avec des points qui épousent très fidèlement la ligne directrice. C'est le signe que le modèle a réussi à généraliser les règles sous-jacentes des inondations, offrant ainsi la meilleure fiabilité pour notre système d'alerte.</a:t>
            </a:r>
          </a:p>
          <a:p/>
          <a:p>
            <a:r>
              <a:t>[ESPACE POUR IMAGE: Actual vs Predicted]</a:t>
            </a:r>
          </a:p>
          <a:p>
            <a:r>
              <a:t>(Voir notebook: modeleReseauNeuronesSequential.ipynb)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Validation Croisée</a:t>
            </a:r>
          </a:p>
        </p:txBody>
      </p:sp>
      <p:sp>
        <p:nvSpPr>
          <p:cNvPr id="3" name="Content Placeholder 2"/>
          <p:cNvSpPr>
            <a:spLocks noGrp="1"/>
          </p:cNvSpPr>
          <p:nvPr>
            <p:ph idx="1"/>
          </p:nvPr>
        </p:nvSpPr>
        <p:spPr/>
        <p:txBody>
          <a:bodyPr/>
          <a:lstStyle/>
          <a:p>
            <a:r>
              <a:t>Pourquoi ?</a:t>
            </a:r>
          </a:p>
          <a:p>
            <a:r>
              <a:t>- Pour évaluer la robustesse des modèles.</a:t>
            </a:r>
          </a:p>
          <a:p>
            <a:r>
              <a:t>- Évite que le modèle soit performant uniquement sur une partie spécifique des données.</a:t>
            </a:r>
          </a:p>
          <a:p/>
          <a:p>
            <a:r>
              <a:t>Méthode (K-Fold) :</a:t>
            </a:r>
          </a:p>
          <a:p>
            <a:r>
              <a:t>- Division des données en 5 parties (folds).</a:t>
            </a:r>
          </a:p>
          <a:p>
            <a:r>
              <a:t>- Entraînement sur 4 parties, test sur 1.</a:t>
            </a:r>
          </a:p>
          <a:p>
            <a:r>
              <a:t>- Répétition 5 fois et moyenne des scores (MSE, R2).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Résultats Préliminaires</a:t>
            </a:r>
          </a:p>
        </p:txBody>
      </p:sp>
      <p:sp>
        <p:nvSpPr>
          <p:cNvPr id="3" name="Content Placeholder 2"/>
          <p:cNvSpPr>
            <a:spLocks noGrp="1"/>
          </p:cNvSpPr>
          <p:nvPr>
            <p:ph idx="1"/>
          </p:nvPr>
        </p:nvSpPr>
        <p:spPr/>
        <p:txBody>
          <a:bodyPr/>
          <a:lstStyle/>
          <a:p>
            <a:r>
              <a:t>Réseau de Neurones :</a:t>
            </a:r>
          </a:p>
          <a:p>
            <a:r>
              <a:t>- MSE (Mean Squared Error) très faible (~1.4e-05) sur les données de validation.</a:t>
            </a:r>
          </a:p>
          <a:p>
            <a:r>
              <a:t>- Indique une très bonne capacité prédictive.</a:t>
            </a:r>
          </a:p>
          <a:p/>
          <a:p>
            <a:r>
              <a:t>Comparaison :</a:t>
            </a:r>
          </a:p>
          <a:p>
            <a:r>
              <a:t>- La validation croisée permettra de confirmer si le Random Forest ou le Réseau de Neurones est le meilleur modèle généralisable.</a:t>
            </a:r>
          </a:p>
          <a:p>
            <a:r>
              <a:t>- Le script 'validation_croisee.py' a été créé pour automatiser ce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Le projet a permis d'explorer plusieurs approches de modélisation.</a:t>
            </a:r>
          </a:p>
          <a:p>
            <a:r>
              <a:t>- Le prétraitement des données (gestion des outliers, scaling) est crucial.</a:t>
            </a:r>
          </a:p>
          <a:p>
            <a:r>
              <a:t>- Les modèles complexes (NN, RF) semblent prometteurs.</a:t>
            </a:r>
          </a:p>
          <a:p>
            <a:r>
              <a:t>- Prochaines étapes : Tuning des hyperparamètres et déploiement du meilleur modèle.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