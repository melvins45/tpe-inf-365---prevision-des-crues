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E6E1B4-BDB5-4CA1-8421-DFD79820A177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42421D-1FC9-41FB-A776-62D2D68242D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4398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5EFA-97E1-6034-DB30-E41F8E3FB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chemeClr val="accent1"/>
                </a:solidFill>
                <a:latin typeface="Bahnschrift 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B81FF-9513-AC55-3F55-6DFED2826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latin typeface="Bahnschrift Light" panose="020B05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fr-F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B6EEE-5DF5-A456-3130-7E55487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C18B4-2C05-4519-BB11-FC80A41B7872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A94B7-B6B6-E842-EF15-902803347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65545-2F9A-7C52-54F9-1BBBFA9EE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735D030B-3ACA-3AB2-8456-7672E88C3718}"/>
              </a:ext>
            </a:extLst>
          </p:cNvPr>
          <p:cNvSpPr/>
          <p:nvPr/>
        </p:nvSpPr>
        <p:spPr>
          <a:xfrm rot="5400000">
            <a:off x="-1294081" y="1294080"/>
            <a:ext cx="4645560" cy="20574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FD1ABC78-2EB1-8C32-62D2-7D932A6993B0}"/>
              </a:ext>
            </a:extLst>
          </p:cNvPr>
          <p:cNvSpPr/>
          <p:nvPr/>
        </p:nvSpPr>
        <p:spPr>
          <a:xfrm rot="16200000">
            <a:off x="7673778" y="5387775"/>
            <a:ext cx="2212440" cy="728006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9D729C8F-2D2D-AEBE-5B1C-E08EC37103CB}"/>
              </a:ext>
            </a:extLst>
          </p:cNvPr>
          <p:cNvSpPr/>
          <p:nvPr/>
        </p:nvSpPr>
        <p:spPr>
          <a:xfrm rot="10800000">
            <a:off x="7287063" y="-2"/>
            <a:ext cx="1856938" cy="464556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CEA8E5D3-46A6-79B9-FC3D-5E4F377916B1}"/>
              </a:ext>
            </a:extLst>
          </p:cNvPr>
          <p:cNvSpPr/>
          <p:nvPr/>
        </p:nvSpPr>
        <p:spPr>
          <a:xfrm>
            <a:off x="-7915" y="4645559"/>
            <a:ext cx="754383" cy="2212441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088979064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8FC0D-852C-E0CB-03F1-1D95C8CD4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  <a:latin typeface="Bahnschrift 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C994F-93D1-BD13-073F-8057624EF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 sz="2100"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EA1B8-864A-97DC-AD3E-B1E9F597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C15CCBA-DA9E-4CCF-9558-E80C0C0E5B35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56969-4FC7-D1DE-D8B7-5BE8FF088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DB52B-0E76-45D9-0674-9A1E73455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54B7B586-9196-C5BA-54B5-3AD26BD76D0C}"/>
              </a:ext>
            </a:extLst>
          </p:cNvPr>
          <p:cNvSpPr/>
          <p:nvPr/>
        </p:nvSpPr>
        <p:spPr>
          <a:xfrm rot="10800000">
            <a:off x="7287063" y="-2"/>
            <a:ext cx="1856938" cy="464556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49FDEE-9EA3-5B0C-7078-9F56BCBCDB3F}"/>
              </a:ext>
            </a:extLst>
          </p:cNvPr>
          <p:cNvSpPr/>
          <p:nvPr/>
        </p:nvSpPr>
        <p:spPr>
          <a:xfrm>
            <a:off x="724989" y="1410789"/>
            <a:ext cx="6789419" cy="104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3760052384"/>
      </p:ext>
    </p:extLst>
  </p:cSld>
  <p:clrMapOvr>
    <a:masterClrMapping/>
  </p:clrMapOvr>
  <p:transition spd="slow" advTm="60000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B7DB9-1E5F-B97B-8E08-FA1A25738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01616-DC83-F6CB-32CF-F6EA48986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2D510-C433-4B2B-E838-18048397E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39452-0BB3-4187-B5AD-B5FA37699F6E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360EC-7FC2-5B4C-0014-04EA4FD02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4DDCC-B1C9-60E8-5F0B-4D8F4DB2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65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46C9D-DED7-28E0-3713-CA05059AC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0C5A7-161B-39F1-4944-16F1DC4CF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641EA-1F9E-E3F4-F23B-0109A8D10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5CD67-7622-E2F0-EEB2-28C9D7293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09926-9DFC-44E9-9EF0-F80A475E56C5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128A3-8A68-25F1-AAC1-0B781A977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45870-93BA-2F9B-08EC-81AE5CF87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8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60B2B-6EF0-4D09-590D-95DA0274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C799A-9420-7C65-AB7B-30246A7F8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3834B-2C1D-2AE4-64C2-7D1D93FCA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42B04-C5C3-F3DA-00A0-2BADFDF5E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617ACC-B620-CCC6-7524-9010146451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390E2D-D666-3B33-966E-5153C1C0A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43C1-2D1A-477E-9DED-91DD0584A91B}" type="datetime1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43B75D-D02B-2953-234B-F66ED31C8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756608-1F9C-C84B-23F6-699BD9E7B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233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7241B-E864-D8EE-588E-96AB1D85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E145E3-6B09-69C2-46A4-6D04A194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FC44-5EF0-4720-9F10-E80F6B8E4AFE}" type="datetime1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6C747-9114-DC87-4404-AB8C87DE8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F8F93-850C-C3D2-EE9E-972F2D08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15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504FD-AF38-FC26-7D21-7EB027C6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7A66F-BBDC-434C-B532-9CA2FA20D0AC}" type="datetime1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E2A34A-746B-91E5-5278-ED4E09624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513C9-D978-5C33-F0CA-6C681476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30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5177C-F8E3-BDD0-A3A3-DE1FB5AFC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B8448-4223-D726-186D-C3AD5BB15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C7704-DAE7-E988-64FB-04E74ED1F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2B16D-45AF-A297-4055-B29A5A35C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FC6A-84AE-4C9E-AD6F-B03A686D2F4E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677BF-8F4D-AF85-9E7F-7E4F49DA5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1616E-352C-EE7E-9891-590B9B3DD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24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AF5B-B567-2EDB-B7E2-2155F2ED4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833371-009A-694C-B08C-9944445EED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57511B-BFE0-75F6-4101-2D7CD878A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8B6EE-FD7A-E78C-2B92-C1A7AE48D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9F8A9-1151-4BB8-BE41-2720695FBD9B}" type="datetime1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CDF17-A7F4-0663-D613-8E2901B79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56AFE-D73C-6605-3F45-12A275C9C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02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2C5A-47B7-8974-7B16-0F2680A3D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6A179C-3ECF-FF68-15CC-7DBAFAADA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558A4-70C5-0569-D88C-495AC64DC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16CBE-6141-4D1F-A2AD-6C91106889A1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99FA7-91AA-1158-9D7F-C7DFA506E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B0799-D893-A232-5BBD-EE62700E2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216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983AB6-4417-D92F-3185-E09D9F9853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6A321D-E9C5-292A-E81D-8E39D0B5D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2BC88-652C-1A0D-548B-53979AAFA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F12D-A246-4F40-8244-53DE16598144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A5054-3404-192A-FE2F-164507DCA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523F3-EE10-12DC-F11B-843651B03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86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CD57E4-A6FF-466E-4BBF-8D6E84604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EAECD-5D9E-A5A3-97A2-9F31296CE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CC69C-6BEB-4FFA-E279-5B4257EBCC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E5C33-D3D8-4D57-874E-6570C7BCE481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020FE-D9FF-BE64-CD1B-DA4136EFEF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F9412-E3FD-4F7A-05FA-1F34A4C87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15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21768"/>
            <a:ext cx="7772400" cy="1532500"/>
          </a:xfrm>
        </p:spPr>
        <p:txBody>
          <a:bodyPr>
            <a:normAutofit/>
          </a:bodyPr>
          <a:lstStyle/>
          <a:p>
            <a:r>
              <a:rPr sz="5400" dirty="0" err="1">
                <a:latin typeface="Bahnschrift Light" panose="020B0502040204020203" pitchFamily="34" charset="0"/>
              </a:rPr>
              <a:t>Prévision</a:t>
            </a:r>
            <a:r>
              <a:rPr sz="5400" dirty="0">
                <a:latin typeface="Bahnschrift Light" panose="020B0502040204020203" pitchFamily="34" charset="0"/>
              </a:rPr>
              <a:t> des Crues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4739" y="4645560"/>
            <a:ext cx="7202658" cy="1752600"/>
          </a:xfrm>
        </p:spPr>
        <p:txBody>
          <a:bodyPr>
            <a:normAutofit/>
          </a:bodyPr>
          <a:lstStyle/>
          <a:p>
            <a:r>
              <a:rPr dirty="0" err="1">
                <a:latin typeface="Bahnschrift Light" panose="020B0502040204020203" pitchFamily="34" charset="0"/>
              </a:rPr>
              <a:t>Projet</a:t>
            </a:r>
            <a:r>
              <a:rPr dirty="0">
                <a:latin typeface="Bahnschrift Light" panose="020B0502040204020203" pitchFamily="34" charset="0"/>
              </a:rPr>
              <a:t> TPE INF 365 - Groupe 24</a:t>
            </a:r>
          </a:p>
          <a:p>
            <a:r>
              <a:rPr dirty="0">
                <a:latin typeface="Bahnschrift Light" panose="020B0502040204020203" pitchFamily="34" charset="0"/>
              </a:rPr>
              <a:t>Université de Douala - Faculté des Sciences</a:t>
            </a:r>
          </a:p>
          <a:p>
            <a:r>
              <a:rPr u="sng" dirty="0" err="1">
                <a:latin typeface="Bahnschrift Light" panose="020B0502040204020203" pitchFamily="34" charset="0"/>
              </a:rPr>
              <a:t>Examinateur</a:t>
            </a:r>
            <a:r>
              <a:rPr u="sng" dirty="0">
                <a:latin typeface="Bahnschrift Light" panose="020B0502040204020203" pitchFamily="34" charset="0"/>
              </a:rPr>
              <a:t> :</a:t>
            </a:r>
            <a:r>
              <a:rPr lang="fr-FR" dirty="0">
                <a:latin typeface="Bahnschrift Light" panose="020B0502040204020203" pitchFamily="34" charset="0"/>
              </a:rPr>
              <a:t> D</a:t>
            </a:r>
            <a:r>
              <a:rPr dirty="0">
                <a:latin typeface="Bahnschrift Light" panose="020B0502040204020203" pitchFamily="34" charset="0"/>
              </a:rPr>
              <a:t>r Justin MOSKOLAI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2DA9BCE-A841-A213-C8CF-5C665C95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3D734-D2F2-469B-A518-BC0C1682C8C5}" type="datetime1">
              <a:rPr lang="en-US" smtClean="0"/>
              <a:t>12/17/2025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F624506-96BF-A737-CC55-544E032F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8C38C0E-F1D8-AA43-96AA-C37D782F8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BF4B42-08D7-006C-FDB6-83DFC83A5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746" y="459840"/>
            <a:ext cx="2371725" cy="130175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Membres du Groupe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NITOPOP JEATSA GUILLAUME MELVIN (CHEF) - 20S43003</a:t>
            </a:r>
          </a:p>
          <a:p>
            <a:r>
              <a:rPr dirty="0"/>
              <a:t>DEMANOU KEMKENG DILAN - 25S03516</a:t>
            </a:r>
          </a:p>
          <a:p>
            <a:r>
              <a:rPr dirty="0"/>
              <a:t>NOSSI YIMGO LYNDSEY SULIVANE - 23S87713</a:t>
            </a:r>
          </a:p>
          <a:p>
            <a:r>
              <a:rPr dirty="0"/>
              <a:t>TCHIEUTCHOUA FOTEPING ASHLEY MEGANE - 23S87863</a:t>
            </a:r>
          </a:p>
          <a:p>
            <a:r>
              <a:rPr dirty="0"/>
              <a:t>WANGA POUYA KAVEN SAMIRA - 23S88070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7D7D9-E7FC-AEB0-F5BC-BFB1D7951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60516-943A-4C0A-86C3-B3AE2AFB98D5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F6AE8-552C-A3C0-3720-1A1D88B5E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39A6E-22E3-A521-E6F3-98332B66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ransition spd="slow" advTm="60000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u="sng" dirty="0" err="1"/>
              <a:t>Contexte</a:t>
            </a:r>
            <a:r>
              <a:rPr u="sng" dirty="0"/>
              <a:t> : </a:t>
            </a:r>
            <a:r>
              <a:rPr lang="fr-FR" dirty="0"/>
              <a:t> P</a:t>
            </a:r>
            <a:r>
              <a:rPr dirty="0" err="1"/>
              <a:t>révention</a:t>
            </a:r>
            <a:r>
              <a:rPr dirty="0"/>
              <a:t> des </a:t>
            </a:r>
            <a:r>
              <a:rPr dirty="0" err="1"/>
              <a:t>inondations</a:t>
            </a:r>
            <a:r>
              <a:rPr dirty="0"/>
              <a:t> à Douala, Cameroun.</a:t>
            </a:r>
          </a:p>
          <a:p>
            <a:r>
              <a:rPr u="sng" dirty="0"/>
              <a:t>Objectif :</a:t>
            </a:r>
            <a:r>
              <a:rPr dirty="0"/>
              <a:t> </a:t>
            </a:r>
            <a:r>
              <a:rPr dirty="0" err="1"/>
              <a:t>Prédire</a:t>
            </a:r>
            <a:r>
              <a:rPr dirty="0"/>
              <a:t> la </a:t>
            </a:r>
            <a:r>
              <a:rPr dirty="0" err="1"/>
              <a:t>probabilité</a:t>
            </a:r>
            <a:r>
              <a:rPr dirty="0"/>
              <a:t> </a:t>
            </a:r>
            <a:r>
              <a:rPr dirty="0" err="1"/>
              <a:t>d'inondation</a:t>
            </a:r>
            <a:r>
              <a:rPr dirty="0"/>
              <a:t> (</a:t>
            </a:r>
            <a:r>
              <a:rPr dirty="0" err="1"/>
              <a:t>FloodProbability</a:t>
            </a:r>
            <a:r>
              <a:rPr dirty="0"/>
              <a:t>)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fonction</a:t>
            </a:r>
            <a:r>
              <a:rPr dirty="0"/>
              <a:t> de divers </a:t>
            </a:r>
            <a:r>
              <a:rPr dirty="0" err="1"/>
              <a:t>facteurs</a:t>
            </a:r>
            <a:r>
              <a:rPr dirty="0"/>
              <a:t> </a:t>
            </a:r>
            <a:r>
              <a:rPr dirty="0" err="1"/>
              <a:t>environnementaux</a:t>
            </a:r>
            <a:r>
              <a:rPr dirty="0"/>
              <a:t>.</a:t>
            </a:r>
          </a:p>
          <a:p>
            <a:endParaRPr dirty="0"/>
          </a:p>
          <a:p>
            <a:r>
              <a:rPr u="sng" dirty="0"/>
              <a:t>Données :</a:t>
            </a:r>
            <a:r>
              <a:rPr dirty="0"/>
              <a:t> Dataset 'flood.csv' </a:t>
            </a:r>
            <a:r>
              <a:rPr dirty="0" err="1"/>
              <a:t>contenant</a:t>
            </a:r>
            <a:r>
              <a:rPr dirty="0"/>
              <a:t> des </a:t>
            </a:r>
            <a:r>
              <a:rPr dirty="0" err="1"/>
              <a:t>caractéristiques</a:t>
            </a:r>
            <a:r>
              <a:rPr dirty="0"/>
              <a:t> </a:t>
            </a:r>
            <a:r>
              <a:rPr dirty="0" err="1"/>
              <a:t>telles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:</a:t>
            </a:r>
          </a:p>
          <a:p>
            <a:pPr lvl="1"/>
            <a:r>
              <a:rPr dirty="0" err="1"/>
              <a:t>Intensité</a:t>
            </a:r>
            <a:r>
              <a:rPr dirty="0"/>
              <a:t> de la </a:t>
            </a:r>
            <a:r>
              <a:rPr dirty="0" err="1"/>
              <a:t>mousson</a:t>
            </a:r>
            <a:endParaRPr dirty="0"/>
          </a:p>
          <a:p>
            <a:pPr lvl="1"/>
            <a:r>
              <a:rPr dirty="0" err="1"/>
              <a:t>Topographie</a:t>
            </a:r>
            <a:r>
              <a:rPr dirty="0"/>
              <a:t> et drainage</a:t>
            </a:r>
          </a:p>
          <a:p>
            <a:pPr lvl="1"/>
            <a:r>
              <a:rPr dirty="0" err="1"/>
              <a:t>Déforestation</a:t>
            </a:r>
            <a:endParaRPr dirty="0"/>
          </a:p>
          <a:p>
            <a:pPr lvl="1"/>
            <a:r>
              <a:rPr dirty="0" err="1"/>
              <a:t>Urbanisation</a:t>
            </a:r>
            <a:endParaRPr dirty="0"/>
          </a:p>
          <a:p>
            <a:pPr lvl="1"/>
            <a:r>
              <a:rPr dirty="0" err="1"/>
              <a:t>Changement</a:t>
            </a:r>
            <a:r>
              <a:rPr dirty="0"/>
              <a:t> </a:t>
            </a:r>
            <a:r>
              <a:rPr dirty="0" err="1"/>
              <a:t>climatique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766AA-FA6C-B765-A8A1-C76CE42A7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BD420-D965-422B-A16A-8DC88896E5A0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425BF-9BCB-F784-86FB-2AC9DFF1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A5CF5-A278-238D-D35A-66018C08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ransition spd="slow" advTm="60000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Méthodologie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1. </a:t>
            </a:r>
            <a:r>
              <a:rPr b="1" dirty="0" err="1"/>
              <a:t>Préparation</a:t>
            </a:r>
            <a:r>
              <a:rPr b="1" dirty="0"/>
              <a:t> des données :</a:t>
            </a:r>
          </a:p>
          <a:p>
            <a:r>
              <a:rPr dirty="0"/>
              <a:t>   </a:t>
            </a:r>
            <a:r>
              <a:rPr u="sng" dirty="0" err="1"/>
              <a:t>Nettoyage</a:t>
            </a:r>
            <a:r>
              <a:rPr u="sng" dirty="0"/>
              <a:t> :</a:t>
            </a:r>
            <a:r>
              <a:rPr dirty="0"/>
              <a:t> </a:t>
            </a:r>
            <a:r>
              <a:rPr dirty="0" err="1"/>
              <a:t>Traitement</a:t>
            </a:r>
            <a:r>
              <a:rPr dirty="0"/>
              <a:t> des </a:t>
            </a:r>
            <a:r>
              <a:rPr dirty="0" err="1"/>
              <a:t>valeurs</a:t>
            </a:r>
            <a:r>
              <a:rPr dirty="0"/>
              <a:t> </a:t>
            </a:r>
            <a:r>
              <a:rPr dirty="0" err="1"/>
              <a:t>manquantes</a:t>
            </a:r>
            <a:r>
              <a:rPr dirty="0"/>
              <a:t> et </a:t>
            </a:r>
            <a:r>
              <a:rPr dirty="0" err="1"/>
              <a:t>doublons</a:t>
            </a:r>
            <a:r>
              <a:rPr dirty="0"/>
              <a:t>.</a:t>
            </a:r>
          </a:p>
          <a:p>
            <a:r>
              <a:rPr dirty="0"/>
              <a:t>   </a:t>
            </a:r>
            <a:r>
              <a:rPr u="sng" dirty="0"/>
              <a:t>Outliers :</a:t>
            </a:r>
            <a:r>
              <a:rPr dirty="0"/>
              <a:t> Suppression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plafonnement</a:t>
            </a:r>
            <a:r>
              <a:rPr dirty="0"/>
              <a:t> via la </a:t>
            </a:r>
            <a:r>
              <a:rPr dirty="0" err="1"/>
              <a:t>méthode</a:t>
            </a:r>
            <a:r>
              <a:rPr dirty="0"/>
              <a:t> IQR (Interquartile Range).</a:t>
            </a:r>
          </a:p>
          <a:p>
            <a:r>
              <a:rPr dirty="0"/>
              <a:t>   </a:t>
            </a:r>
            <a:r>
              <a:rPr u="sng" dirty="0" err="1"/>
              <a:t>Normalisation</a:t>
            </a:r>
            <a:r>
              <a:rPr u="sng" dirty="0"/>
              <a:t> :</a:t>
            </a:r>
            <a:r>
              <a:rPr dirty="0"/>
              <a:t> </a:t>
            </a:r>
            <a:r>
              <a:rPr dirty="0" err="1"/>
              <a:t>Utilisation</a:t>
            </a:r>
            <a:r>
              <a:rPr dirty="0"/>
              <a:t> de </a:t>
            </a:r>
            <a:r>
              <a:rPr dirty="0" err="1"/>
              <a:t>StandardScaler</a:t>
            </a:r>
            <a:r>
              <a:rPr dirty="0"/>
              <a:t> pour </a:t>
            </a:r>
            <a:r>
              <a:rPr dirty="0" err="1"/>
              <a:t>mettre</a:t>
            </a:r>
            <a:r>
              <a:rPr dirty="0"/>
              <a:t> les features à la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échelle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2. </a:t>
            </a:r>
            <a:r>
              <a:rPr b="1" dirty="0" err="1"/>
              <a:t>Modélisation</a:t>
            </a:r>
            <a:r>
              <a:rPr b="1" dirty="0"/>
              <a:t> :</a:t>
            </a:r>
          </a:p>
          <a:p>
            <a:r>
              <a:rPr dirty="0"/>
              <a:t>   </a:t>
            </a:r>
            <a:r>
              <a:rPr dirty="0" err="1"/>
              <a:t>Régression</a:t>
            </a:r>
            <a:r>
              <a:rPr dirty="0"/>
              <a:t> </a:t>
            </a:r>
            <a:r>
              <a:rPr dirty="0" err="1"/>
              <a:t>Linéaire</a:t>
            </a:r>
            <a:r>
              <a:rPr dirty="0"/>
              <a:t> (Baseline)</a:t>
            </a:r>
          </a:p>
          <a:p>
            <a:r>
              <a:rPr dirty="0"/>
              <a:t>   Forêt </a:t>
            </a:r>
            <a:r>
              <a:rPr dirty="0" err="1"/>
              <a:t>Aléatoire</a:t>
            </a:r>
            <a:r>
              <a:rPr dirty="0"/>
              <a:t> (Random Forest)</a:t>
            </a:r>
          </a:p>
          <a:p>
            <a:r>
              <a:rPr dirty="0"/>
              <a:t>   Réseau de </a:t>
            </a:r>
            <a:r>
              <a:rPr dirty="0" err="1"/>
              <a:t>Neurones</a:t>
            </a:r>
            <a:r>
              <a:rPr dirty="0"/>
              <a:t> (Deep Learning)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7EF14-A006-8B06-7E0B-3EC77C554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06D4A-00D9-48EC-940D-57AE54D4D04C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4D2A9-1142-5A0E-F6FC-7B0F167E7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4B74B-DAB6-9F37-FDAF-5128765C4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ransition spd="slow" advTm="60000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Détails des Modèles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b="1" dirty="0" err="1"/>
              <a:t>Régression</a:t>
            </a:r>
            <a:r>
              <a:rPr b="1" dirty="0"/>
              <a:t> </a:t>
            </a:r>
            <a:r>
              <a:rPr b="1" dirty="0" err="1"/>
              <a:t>Linéaire</a:t>
            </a:r>
            <a:r>
              <a:rPr b="1" dirty="0"/>
              <a:t> :</a:t>
            </a:r>
          </a:p>
          <a:p>
            <a:pPr lvl="1"/>
            <a:r>
              <a:rPr dirty="0" err="1"/>
              <a:t>Modèle</a:t>
            </a:r>
            <a:r>
              <a:rPr dirty="0"/>
              <a:t> simple pour </a:t>
            </a:r>
            <a:r>
              <a:rPr dirty="0" err="1"/>
              <a:t>établir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base de performance.</a:t>
            </a:r>
          </a:p>
          <a:p>
            <a:endParaRPr dirty="0"/>
          </a:p>
          <a:p>
            <a:r>
              <a:rPr b="1" dirty="0"/>
              <a:t>Forêt </a:t>
            </a:r>
            <a:r>
              <a:rPr b="1" dirty="0" err="1"/>
              <a:t>Aléatoire</a:t>
            </a:r>
            <a:r>
              <a:rPr b="1" dirty="0"/>
              <a:t> (Random Forest) :</a:t>
            </a:r>
          </a:p>
          <a:p>
            <a:pPr lvl="1"/>
            <a:r>
              <a:rPr dirty="0"/>
              <a:t>Ensemble de 100 </a:t>
            </a:r>
            <a:r>
              <a:rPr dirty="0" err="1"/>
              <a:t>arbres</a:t>
            </a:r>
            <a:r>
              <a:rPr dirty="0"/>
              <a:t> de </a:t>
            </a:r>
            <a:r>
              <a:rPr dirty="0" err="1"/>
              <a:t>décision</a:t>
            </a:r>
            <a:r>
              <a:rPr dirty="0"/>
              <a:t>.</a:t>
            </a:r>
          </a:p>
          <a:p>
            <a:pPr lvl="1"/>
            <a:r>
              <a:rPr dirty="0" err="1"/>
              <a:t>Robuste</a:t>
            </a:r>
            <a:r>
              <a:rPr dirty="0"/>
              <a:t> </a:t>
            </a:r>
            <a:r>
              <a:rPr dirty="0" err="1"/>
              <a:t>contre</a:t>
            </a:r>
            <a:r>
              <a:rPr dirty="0"/>
              <a:t> le </a:t>
            </a:r>
            <a:r>
              <a:rPr dirty="0" err="1"/>
              <a:t>surapprentissage</a:t>
            </a:r>
            <a:r>
              <a:rPr dirty="0"/>
              <a:t>.</a:t>
            </a:r>
          </a:p>
          <a:p>
            <a:pPr lvl="1"/>
            <a:r>
              <a:rPr dirty="0"/>
              <a:t>Capture les relations non-</a:t>
            </a:r>
            <a:r>
              <a:rPr dirty="0" err="1"/>
              <a:t>linéaires</a:t>
            </a:r>
            <a:r>
              <a:rPr dirty="0"/>
              <a:t>.</a:t>
            </a:r>
          </a:p>
          <a:p>
            <a:endParaRPr dirty="0"/>
          </a:p>
          <a:p>
            <a:r>
              <a:rPr b="1" dirty="0"/>
              <a:t>Réseau de </a:t>
            </a:r>
            <a:r>
              <a:rPr b="1" dirty="0" err="1"/>
              <a:t>Neurones</a:t>
            </a:r>
            <a:r>
              <a:rPr b="1" dirty="0"/>
              <a:t> </a:t>
            </a:r>
            <a:r>
              <a:rPr b="1" dirty="0" err="1"/>
              <a:t>Séquentiel</a:t>
            </a:r>
            <a:r>
              <a:rPr b="1" dirty="0"/>
              <a:t> :</a:t>
            </a:r>
          </a:p>
          <a:p>
            <a:pPr lvl="1"/>
            <a:r>
              <a:rPr dirty="0"/>
              <a:t>Architecture : 3 couches </a:t>
            </a:r>
            <a:r>
              <a:rPr dirty="0" err="1"/>
              <a:t>denses</a:t>
            </a:r>
            <a:r>
              <a:rPr dirty="0"/>
              <a:t> (64, 32, 1 </a:t>
            </a:r>
            <a:r>
              <a:rPr dirty="0" err="1"/>
              <a:t>neurones</a:t>
            </a:r>
            <a:r>
              <a:rPr dirty="0"/>
              <a:t>).</a:t>
            </a:r>
          </a:p>
          <a:p>
            <a:pPr lvl="1"/>
            <a:r>
              <a:rPr dirty="0"/>
              <a:t>Activation : </a:t>
            </a:r>
            <a:r>
              <a:rPr dirty="0" err="1"/>
              <a:t>ReLU</a:t>
            </a:r>
            <a:r>
              <a:rPr dirty="0"/>
              <a:t> pour les couches </a:t>
            </a:r>
            <a:r>
              <a:rPr dirty="0" err="1"/>
              <a:t>cachées</a:t>
            </a:r>
            <a:r>
              <a:rPr dirty="0"/>
              <a:t>, </a:t>
            </a:r>
            <a:r>
              <a:rPr dirty="0" err="1"/>
              <a:t>Linéaire</a:t>
            </a:r>
            <a:r>
              <a:rPr dirty="0"/>
              <a:t> pour la sortie.</a:t>
            </a:r>
          </a:p>
          <a:p>
            <a:pPr lvl="1"/>
            <a:r>
              <a:rPr dirty="0" err="1"/>
              <a:t>Optimiseur</a:t>
            </a:r>
            <a:r>
              <a:rPr dirty="0"/>
              <a:t> : Adam | Perte : MSE.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BDE69-483F-FD58-51F9-43ED72879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34C52-6166-42A3-B3F9-78796BD44414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11B52-388C-A651-D986-79275B170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8B117-54B0-9817-B798-DE6B598A2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ransition spd="slow" advTm="60000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Croisée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 err="1"/>
              <a:t>Pourquoi</a:t>
            </a:r>
            <a:r>
              <a:rPr b="1" dirty="0"/>
              <a:t> ?</a:t>
            </a:r>
          </a:p>
          <a:p>
            <a:pPr lvl="1"/>
            <a:r>
              <a:rPr dirty="0"/>
              <a:t>Pour </a:t>
            </a:r>
            <a:r>
              <a:rPr dirty="0" err="1"/>
              <a:t>évaluer</a:t>
            </a:r>
            <a:r>
              <a:rPr dirty="0"/>
              <a:t> la </a:t>
            </a:r>
            <a:r>
              <a:rPr dirty="0" err="1"/>
              <a:t>robustesse</a:t>
            </a:r>
            <a:r>
              <a:rPr dirty="0"/>
              <a:t> des </a:t>
            </a:r>
            <a:r>
              <a:rPr dirty="0" err="1"/>
              <a:t>modèles</a:t>
            </a:r>
            <a:r>
              <a:rPr dirty="0"/>
              <a:t>.</a:t>
            </a:r>
          </a:p>
          <a:p>
            <a:pPr lvl="1"/>
            <a:r>
              <a:rPr dirty="0" err="1"/>
              <a:t>Évite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 </a:t>
            </a:r>
            <a:r>
              <a:rPr dirty="0" err="1"/>
              <a:t>modèle</a:t>
            </a:r>
            <a:r>
              <a:rPr dirty="0"/>
              <a:t> </a:t>
            </a:r>
            <a:r>
              <a:rPr dirty="0" err="1"/>
              <a:t>soit</a:t>
            </a:r>
            <a:r>
              <a:rPr dirty="0"/>
              <a:t> performant </a:t>
            </a:r>
            <a:r>
              <a:rPr dirty="0" err="1"/>
              <a:t>uniquement</a:t>
            </a:r>
            <a:r>
              <a:rPr dirty="0"/>
              <a:t> sur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partie</a:t>
            </a:r>
            <a:r>
              <a:rPr dirty="0"/>
              <a:t> </a:t>
            </a:r>
            <a:r>
              <a:rPr dirty="0" err="1"/>
              <a:t>spécifique</a:t>
            </a:r>
            <a:r>
              <a:rPr dirty="0"/>
              <a:t> des données.</a:t>
            </a:r>
          </a:p>
          <a:p>
            <a:endParaRPr dirty="0"/>
          </a:p>
          <a:p>
            <a:r>
              <a:rPr b="1" dirty="0" err="1"/>
              <a:t>Méthode</a:t>
            </a:r>
            <a:r>
              <a:rPr b="1" dirty="0"/>
              <a:t> (K-Fold) :</a:t>
            </a:r>
          </a:p>
          <a:p>
            <a:pPr lvl="1"/>
            <a:r>
              <a:rPr dirty="0"/>
              <a:t>Division des données </a:t>
            </a:r>
            <a:r>
              <a:rPr dirty="0" err="1"/>
              <a:t>en</a:t>
            </a:r>
            <a:r>
              <a:rPr dirty="0"/>
              <a:t> 5 parties (folds).</a:t>
            </a:r>
          </a:p>
          <a:p>
            <a:pPr lvl="1"/>
            <a:r>
              <a:rPr dirty="0" err="1"/>
              <a:t>Entraînement</a:t>
            </a:r>
            <a:r>
              <a:rPr dirty="0"/>
              <a:t> sur 4 parties, test sur 1.</a:t>
            </a:r>
          </a:p>
          <a:p>
            <a:pPr lvl="1"/>
            <a:r>
              <a:rPr dirty="0" err="1"/>
              <a:t>Répétition</a:t>
            </a:r>
            <a:r>
              <a:rPr dirty="0"/>
              <a:t> 5 </a:t>
            </a:r>
            <a:r>
              <a:rPr dirty="0" err="1"/>
              <a:t>fois</a:t>
            </a:r>
            <a:r>
              <a:rPr dirty="0"/>
              <a:t> et </a:t>
            </a:r>
            <a:r>
              <a:rPr dirty="0" err="1"/>
              <a:t>moyenne</a:t>
            </a:r>
            <a:r>
              <a:rPr dirty="0"/>
              <a:t> des scores (MSE, R2).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5FA8E-5B7A-C460-FB25-C0F69CB79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9BA56-AC26-4164-8F39-64CF2C10C7A9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2F0C3-4020-8349-2BF9-D4AA71ADF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3B366-638C-933B-257F-4B36205C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ransition spd="slow" advTm="60000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Préliminaires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Réseau de </a:t>
            </a:r>
            <a:r>
              <a:rPr b="1" dirty="0" err="1"/>
              <a:t>Neurones</a:t>
            </a:r>
            <a:r>
              <a:rPr b="1" dirty="0"/>
              <a:t> :</a:t>
            </a:r>
          </a:p>
          <a:p>
            <a:pPr lvl="1"/>
            <a:r>
              <a:rPr dirty="0"/>
              <a:t>MSE (Mean Squared Error) très </a:t>
            </a:r>
            <a:r>
              <a:rPr dirty="0" err="1"/>
              <a:t>faible</a:t>
            </a:r>
            <a:r>
              <a:rPr dirty="0"/>
              <a:t> (~1.4e-05) sur les données de validation.</a:t>
            </a:r>
          </a:p>
          <a:p>
            <a:pPr lvl="1"/>
            <a:r>
              <a:rPr dirty="0" err="1"/>
              <a:t>Indique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très bonne </a:t>
            </a:r>
            <a:r>
              <a:rPr dirty="0" err="1"/>
              <a:t>capacité</a:t>
            </a:r>
            <a:r>
              <a:rPr dirty="0"/>
              <a:t> </a:t>
            </a:r>
            <a:r>
              <a:rPr dirty="0" err="1"/>
              <a:t>prédictive</a:t>
            </a:r>
            <a:r>
              <a:rPr dirty="0"/>
              <a:t>.</a:t>
            </a:r>
          </a:p>
          <a:p>
            <a:endParaRPr dirty="0"/>
          </a:p>
          <a:p>
            <a:r>
              <a:rPr b="1" dirty="0" err="1"/>
              <a:t>Comparaison</a:t>
            </a:r>
            <a:r>
              <a:rPr b="1" dirty="0"/>
              <a:t> :</a:t>
            </a:r>
          </a:p>
          <a:p>
            <a:pPr lvl="1"/>
            <a:r>
              <a:rPr dirty="0"/>
              <a:t>La validation </a:t>
            </a:r>
            <a:r>
              <a:rPr dirty="0" err="1"/>
              <a:t>croisée</a:t>
            </a:r>
            <a:r>
              <a:rPr dirty="0"/>
              <a:t> </a:t>
            </a:r>
            <a:r>
              <a:rPr dirty="0" err="1"/>
              <a:t>permettra</a:t>
            </a:r>
            <a:r>
              <a:rPr dirty="0"/>
              <a:t> de confirmer </a:t>
            </a:r>
            <a:r>
              <a:rPr dirty="0" err="1"/>
              <a:t>si</a:t>
            </a:r>
            <a:r>
              <a:rPr dirty="0"/>
              <a:t> le Random Forest </a:t>
            </a:r>
            <a:r>
              <a:rPr dirty="0" err="1"/>
              <a:t>ou</a:t>
            </a:r>
            <a:r>
              <a:rPr dirty="0"/>
              <a:t> le Réseau de </a:t>
            </a:r>
            <a:r>
              <a:rPr dirty="0" err="1"/>
              <a:t>Neurones</a:t>
            </a:r>
            <a:r>
              <a:rPr dirty="0"/>
              <a:t> est le </a:t>
            </a:r>
            <a:r>
              <a:rPr dirty="0" err="1"/>
              <a:t>meilleur</a:t>
            </a:r>
            <a:r>
              <a:rPr dirty="0"/>
              <a:t> </a:t>
            </a:r>
            <a:r>
              <a:rPr dirty="0" err="1"/>
              <a:t>modèle</a:t>
            </a:r>
            <a:r>
              <a:rPr dirty="0"/>
              <a:t> </a:t>
            </a:r>
            <a:r>
              <a:rPr dirty="0" err="1"/>
              <a:t>généralisable</a:t>
            </a:r>
            <a:r>
              <a:rPr dirty="0"/>
              <a:t>.</a:t>
            </a:r>
          </a:p>
          <a:p>
            <a:pPr lvl="1"/>
            <a:r>
              <a:rPr dirty="0"/>
              <a:t>Le script 'validation_croisee.py' a </a:t>
            </a:r>
            <a:r>
              <a:rPr dirty="0" err="1"/>
              <a:t>été</a:t>
            </a:r>
            <a:r>
              <a:rPr dirty="0"/>
              <a:t> </a:t>
            </a:r>
            <a:r>
              <a:rPr dirty="0" err="1"/>
              <a:t>créé</a:t>
            </a:r>
            <a:r>
              <a:rPr dirty="0"/>
              <a:t> pour </a:t>
            </a:r>
            <a:r>
              <a:rPr dirty="0" err="1"/>
              <a:t>automatiser</a:t>
            </a:r>
            <a:r>
              <a:rPr dirty="0"/>
              <a:t> </a:t>
            </a:r>
            <a:r>
              <a:rPr dirty="0" err="1"/>
              <a:t>ce</a:t>
            </a:r>
            <a:r>
              <a:rPr dirty="0"/>
              <a:t> test.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EDFFD-67DF-AC46-AE54-838FE4CED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DE810-5DEB-4B8D-BFBA-DE0C1D92F583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95545-36EF-8E5A-FA95-1C584F121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3EAAB-AE7D-A904-9704-8B56CD5C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p:transition spd="slow" advTm="60000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FR" dirty="0"/>
          </a:p>
          <a:p>
            <a:r>
              <a:rPr dirty="0"/>
              <a:t>Le </a:t>
            </a:r>
            <a:r>
              <a:rPr dirty="0" err="1"/>
              <a:t>projet</a:t>
            </a:r>
            <a:r>
              <a:rPr dirty="0"/>
              <a:t> a </a:t>
            </a:r>
            <a:r>
              <a:rPr dirty="0" err="1"/>
              <a:t>permis</a:t>
            </a:r>
            <a:r>
              <a:rPr dirty="0"/>
              <a:t> </a:t>
            </a:r>
            <a:r>
              <a:rPr dirty="0" err="1"/>
              <a:t>d'explorer</a:t>
            </a:r>
            <a:r>
              <a:rPr dirty="0"/>
              <a:t> </a:t>
            </a:r>
            <a:r>
              <a:rPr dirty="0" err="1"/>
              <a:t>plusieurs</a:t>
            </a:r>
            <a:r>
              <a:rPr dirty="0"/>
              <a:t> </a:t>
            </a:r>
            <a:r>
              <a:rPr dirty="0" err="1"/>
              <a:t>approches</a:t>
            </a:r>
            <a:r>
              <a:rPr dirty="0"/>
              <a:t> de </a:t>
            </a:r>
            <a:r>
              <a:rPr dirty="0" err="1"/>
              <a:t>modélisation</a:t>
            </a:r>
            <a:r>
              <a:rPr dirty="0"/>
              <a:t>.</a:t>
            </a:r>
          </a:p>
          <a:p>
            <a:r>
              <a:rPr dirty="0"/>
              <a:t>Le </a:t>
            </a:r>
            <a:r>
              <a:rPr dirty="0" err="1"/>
              <a:t>prétraitement</a:t>
            </a:r>
            <a:r>
              <a:rPr dirty="0"/>
              <a:t> des données (gestion des outliers, scaling) est crucial.</a:t>
            </a:r>
          </a:p>
          <a:p>
            <a:r>
              <a:rPr dirty="0"/>
              <a:t>Les </a:t>
            </a:r>
            <a:r>
              <a:rPr dirty="0" err="1"/>
              <a:t>modèles</a:t>
            </a:r>
            <a:r>
              <a:rPr dirty="0"/>
              <a:t> complexes (NN, RF) </a:t>
            </a:r>
            <a:r>
              <a:rPr dirty="0" err="1"/>
              <a:t>semblent</a:t>
            </a:r>
            <a:r>
              <a:rPr dirty="0"/>
              <a:t> </a:t>
            </a:r>
            <a:r>
              <a:rPr dirty="0" err="1"/>
              <a:t>prometteurs</a:t>
            </a:r>
            <a:r>
              <a:rPr dirty="0"/>
              <a:t>.</a:t>
            </a:r>
          </a:p>
          <a:p>
            <a:r>
              <a:rPr dirty="0" err="1"/>
              <a:t>Prochaines</a:t>
            </a:r>
            <a:r>
              <a:rPr dirty="0"/>
              <a:t> étapes : Tuning des </a:t>
            </a:r>
            <a:r>
              <a:rPr dirty="0" err="1"/>
              <a:t>hyperparamètres</a:t>
            </a:r>
            <a:r>
              <a:rPr dirty="0"/>
              <a:t> et </a:t>
            </a:r>
            <a:r>
              <a:rPr dirty="0" err="1"/>
              <a:t>déploiement</a:t>
            </a:r>
            <a:r>
              <a:rPr dirty="0"/>
              <a:t> du </a:t>
            </a:r>
            <a:r>
              <a:rPr dirty="0" err="1"/>
              <a:t>meilleur</a:t>
            </a:r>
            <a:r>
              <a:rPr dirty="0"/>
              <a:t> </a:t>
            </a:r>
            <a:r>
              <a:rPr dirty="0" err="1"/>
              <a:t>modèle</a:t>
            </a:r>
            <a:r>
              <a:rPr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76242-75BB-B842-3E39-5AFFE6152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C4C7F-83DF-4A19-B3B2-6E5818D96673}" type="datetime1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41433-C577-2CB8-31B9-1AA721C8F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Présvision des crues - Groupe 24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2041C-43C4-5DCA-FFA7-78D4BFABB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ransition spd="slow" advTm="60000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ThemeTPE</Template>
  <TotalTime>87</TotalTime>
  <Words>504</Words>
  <Application>Microsoft Office PowerPoint</Application>
  <PresentationFormat>On-screen Show (4:3)</PresentationFormat>
  <Paragraphs>90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Bahnschrift Light</vt:lpstr>
      <vt:lpstr>Calibri</vt:lpstr>
      <vt:lpstr>Calibri Light</vt:lpstr>
      <vt:lpstr>Office Theme</vt:lpstr>
      <vt:lpstr>Prévision des Crues</vt:lpstr>
      <vt:lpstr>Membres du Groupe 24</vt:lpstr>
      <vt:lpstr>Introduction &amp; Contexte</vt:lpstr>
      <vt:lpstr>Méthodologie</vt:lpstr>
      <vt:lpstr>Détails des Modèles</vt:lpstr>
      <vt:lpstr>Validation Croisée</vt:lpstr>
      <vt:lpstr>Résultats Préliminaires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mnitopop4@outlook.com</cp:lastModifiedBy>
  <cp:revision>2</cp:revision>
  <dcterms:created xsi:type="dcterms:W3CDTF">2013-01-27T09:14:16Z</dcterms:created>
  <dcterms:modified xsi:type="dcterms:W3CDTF">2025-12-17T16:29:55Z</dcterms:modified>
  <cp:category/>
</cp:coreProperties>
</file>